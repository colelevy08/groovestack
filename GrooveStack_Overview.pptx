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</p:sldIdLst>
  <p:notesMasterIdLst>
    <p:notesMasterId r:id="rId3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notesMaster" Target="notesMasters/notesMaster1.xml"/><Relationship Id="rId39" Type="http://schemas.openxmlformats.org/officeDocument/2006/relationships/presProps" Target="presProps.xml"/><Relationship Id="rId40" Type="http://schemas.openxmlformats.org/officeDocument/2006/relationships/viewProps" Target="viewProps.xml"/><Relationship Id="rId41" Type="http://schemas.openxmlformats.org/officeDocument/2006/relationships/theme" Target="theme/theme1.xml"/><Relationship Id="rId4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280160"/>
            <a:ext cx="10515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GrooveStack</a:t>
            </a:r>
            <a:endParaRPr lang="en-US" sz="6400" dirty="0"/>
          </a:p>
        </p:txBody>
      </p:sp>
      <p:sp>
        <p:nvSpPr>
          <p:cNvPr id="4" name="Text 2"/>
          <p:cNvSpPr/>
          <p:nvPr/>
        </p:nvSpPr>
        <p:spPr>
          <a:xfrm>
            <a:off x="731520" y="237744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Vinyl Buddy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31520" y="32918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D4D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Social Marketplace for Vinyl Collectors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41148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Powered by AI  •  Built for Collectors  •  Connected by Music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475488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Waves 1–20  •  Final Comprehensive Edition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0EA5E9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GrooveStack?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1143000"/>
            <a:ext cx="2286000" cy="36576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463040"/>
            <a:ext cx="105156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20000"/>
              </a:lnSpc>
              <a:spcAft>
                <a:spcPts val="500"/>
              </a:spcAft>
            </a:pPr>
            <a:r>
              <a:rPr lang="en-US" sz="14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all-in-one platform for vinyl record collectors</a:t>
            </a:r>
            <a:endParaRPr lang="en-US" sz="1400" dirty="0"/>
          </a:p>
          <a:p>
            <a:pPr>
              <a:lnSpc>
                <a:spcPct val="120000"/>
              </a:lnSpc>
              <a:spcAft>
                <a:spcPts val="500"/>
              </a:spcAft>
            </a:pPr>
            <a:r>
              <a:rPr lang="en-US" sz="14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marketplace: buy, sell, trade, and auction records</a:t>
            </a:r>
            <a:endParaRPr lang="en-US" sz="1400" dirty="0"/>
          </a:p>
          <a:p>
            <a:pPr>
              <a:lnSpc>
                <a:spcPct val="120000"/>
              </a:lnSpc>
              <a:spcAft>
                <a:spcPts val="500"/>
              </a:spcAft>
            </a:pPr>
            <a:r>
              <a:rPr lang="en-US" sz="14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Collection management with value tracking, analytics, and virtual scrolling</a:t>
            </a:r>
            <a:endParaRPr lang="en-US" sz="1400" dirty="0"/>
          </a:p>
          <a:p>
            <a:pPr>
              <a:lnSpc>
                <a:spcPct val="120000"/>
              </a:lnSpc>
              <a:spcAft>
                <a:spcPts val="500"/>
              </a:spcAft>
            </a:pPr>
            <a:r>
              <a:rPr lang="en-US" sz="14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network: posts, stories, DMs, follows, and activity feed</a:t>
            </a:r>
            <a:endParaRPr lang="en-US" sz="1400" dirty="0"/>
          </a:p>
          <a:p>
            <a:pPr>
              <a:lnSpc>
                <a:spcPct val="120000"/>
              </a:lnSpc>
              <a:spcAft>
                <a:spcPts val="500"/>
              </a:spcAft>
            </a:pPr>
            <a:r>
              <a:rPr lang="en-US" sz="14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Hardware companion device (Vinyl Buddy) with BLE, OLED, SD card, and gesture control</a:t>
            </a:r>
            <a:endParaRPr lang="en-US" sz="1400" dirty="0"/>
          </a:p>
          <a:p>
            <a:pPr>
              <a:lnSpc>
                <a:spcPct val="120000"/>
              </a:lnSpc>
              <a:spcAft>
                <a:spcPts val="500"/>
              </a:spcAft>
            </a:pPr>
            <a:r>
              <a:rPr lang="en-US" sz="14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AI-powered verification with Claude and Discogs integration</a:t>
            </a:r>
            <a:endParaRPr lang="en-US" sz="1400" dirty="0"/>
          </a:p>
          <a:p>
            <a:pPr>
              <a:lnSpc>
                <a:spcPct val="120000"/>
              </a:lnSpc>
              <a:spcAft>
                <a:spcPts val="500"/>
              </a:spcAft>
            </a:pPr>
            <a:r>
              <a:rPr lang="en-US" sz="14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PWA with full mobile and desktop experience, card flip animations, and drawer modals</a:t>
            </a:r>
            <a:endParaRPr lang="en-US" sz="1400" dirty="0"/>
          </a:p>
          <a:p>
            <a:pPr>
              <a:lnSpc>
                <a:spcPct val="120000"/>
              </a:lnSpc>
              <a:spcAft>
                <a:spcPts val="500"/>
              </a:spcAft>
            </a:pPr>
            <a:r>
              <a:rPr lang="en-US" sz="14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ESP-NOW mesh networking for multi-device communication</a:t>
            </a:r>
            <a:endParaRPr lang="en-US" sz="1400" dirty="0"/>
          </a:p>
          <a:p>
            <a:pPr>
              <a:lnSpc>
                <a:spcPct val="120000"/>
              </a:lnSpc>
              <a:spcAft>
                <a:spcPts val="500"/>
              </a:spcAft>
            </a:pPr>
            <a:r>
              <a:rPr lang="en-US" sz="14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1,800+ improvements across 20 development waves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 Stats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1143000"/>
            <a:ext cx="2286000" cy="36576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554480"/>
            <a:ext cx="3291840" cy="1828800"/>
          </a:xfrm>
          <a:prstGeom prst="rect">
            <a:avLst>
              <a:gd name="adj" fmla="val 5000"/>
            </a:avLst>
          </a:prstGeom>
          <a:solidFill>
            <a:srgbClr val="18181B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73736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1,800+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731520" y="265176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Improvements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389120" y="1554480"/>
            <a:ext cx="3291840" cy="1828800"/>
          </a:xfrm>
          <a:prstGeom prst="rect">
            <a:avLst>
              <a:gd name="adj" fmla="val 5000"/>
            </a:avLst>
          </a:prstGeom>
          <a:solidFill>
            <a:srgbClr val="18181B"/>
          </a:solidFill>
          <a:ln/>
        </p:spPr>
      </p:sp>
      <p:sp>
        <p:nvSpPr>
          <p:cNvPr id="9" name="Text 7"/>
          <p:cNvSpPr/>
          <p:nvPr/>
        </p:nvSpPr>
        <p:spPr>
          <a:xfrm>
            <a:off x="4389120" y="173736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275+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4389120" y="265176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Endpoints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046720" y="1554480"/>
            <a:ext cx="3291840" cy="1828800"/>
          </a:xfrm>
          <a:prstGeom prst="rect">
            <a:avLst>
              <a:gd name="adj" fmla="val 5000"/>
            </a:avLst>
          </a:prstGeom>
          <a:solidFill>
            <a:srgbClr val="18181B"/>
          </a:solidFill>
          <a:ln/>
        </p:spPr>
      </p:sp>
      <p:sp>
        <p:nvSpPr>
          <p:cNvPr id="12" name="Text 10"/>
          <p:cNvSpPr/>
          <p:nvPr/>
        </p:nvSpPr>
        <p:spPr>
          <a:xfrm>
            <a:off x="8046720" y="173736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51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8046720" y="265176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Collector Profiles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31520" y="3840480"/>
            <a:ext cx="3291840" cy="1828800"/>
          </a:xfrm>
          <a:prstGeom prst="rect">
            <a:avLst>
              <a:gd name="adj" fmla="val 5000"/>
            </a:avLst>
          </a:prstGeom>
          <a:solidFill>
            <a:srgbClr val="18181B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402336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100+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731520" y="493776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Seed Records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389120" y="3840480"/>
            <a:ext cx="3291840" cy="1828800"/>
          </a:xfrm>
          <a:prstGeom prst="rect">
            <a:avLst>
              <a:gd name="adj" fmla="val 5000"/>
            </a:avLst>
          </a:prstGeom>
          <a:solidFill>
            <a:srgbClr val="18181B"/>
          </a:solidFill>
          <a:ln/>
        </p:spPr>
      </p:sp>
      <p:sp>
        <p:nvSpPr>
          <p:cNvPr id="18" name="Text 16"/>
          <p:cNvSpPr/>
          <p:nvPr/>
        </p:nvSpPr>
        <p:spPr>
          <a:xfrm>
            <a:off x="4389120" y="402336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4389120" y="493776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Development Waves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8046720" y="3840480"/>
            <a:ext cx="3291840" cy="1828800"/>
          </a:xfrm>
          <a:prstGeom prst="rect">
            <a:avLst>
              <a:gd name="adj" fmla="val 5000"/>
            </a:avLst>
          </a:prstGeom>
          <a:solidFill>
            <a:srgbClr val="18181B"/>
          </a:solidFill>
          <a:ln/>
        </p:spPr>
      </p:sp>
      <p:sp>
        <p:nvSpPr>
          <p:cNvPr id="21" name="Text 19"/>
          <p:cNvSpPr/>
          <p:nvPr/>
        </p:nvSpPr>
        <p:spPr>
          <a:xfrm>
            <a:off x="8046720" y="402336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 / 85+</a:t>
            </a:r>
            <a:endParaRPr lang="en-US" sz="3600" dirty="0"/>
          </a:p>
        </p:txBody>
      </p:sp>
      <p:sp>
        <p:nvSpPr>
          <p:cNvPr id="22" name="Text 20"/>
          <p:cNvSpPr/>
          <p:nvPr/>
        </p:nvSpPr>
        <p:spPr>
          <a:xfrm>
            <a:off x="8046720" y="493776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Genres / Subgenres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Features Summary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1143000"/>
            <a:ext cx="2286000" cy="36576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554480"/>
            <a:ext cx="3291840" cy="1828800"/>
          </a:xfrm>
          <a:prstGeom prst="rect">
            <a:avLst>
              <a:gd name="adj" fmla="val 5000"/>
            </a:avLst>
          </a:prstGeom>
          <a:solidFill>
            <a:srgbClr val="18181B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73736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Marketplace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731520" y="265176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Buy, Sell, Trade, Auction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389120" y="1554480"/>
            <a:ext cx="3291840" cy="1828800"/>
          </a:xfrm>
          <a:prstGeom prst="rect">
            <a:avLst>
              <a:gd name="adj" fmla="val 5000"/>
            </a:avLst>
          </a:prstGeom>
          <a:solidFill>
            <a:srgbClr val="18181B"/>
          </a:solidFill>
          <a:ln/>
        </p:spPr>
      </p:sp>
      <p:sp>
        <p:nvSpPr>
          <p:cNvPr id="9" name="Text 7"/>
          <p:cNvSpPr/>
          <p:nvPr/>
        </p:nvSpPr>
        <p:spPr>
          <a:xfrm>
            <a:off x="4389120" y="173736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4389120" y="265176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Feed, Posts, Stories, DMs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046720" y="1554480"/>
            <a:ext cx="3291840" cy="1828800"/>
          </a:xfrm>
          <a:prstGeom prst="rect">
            <a:avLst>
              <a:gd name="adj" fmla="val 5000"/>
            </a:avLst>
          </a:prstGeom>
          <a:solidFill>
            <a:srgbClr val="18181B"/>
          </a:solidFill>
          <a:ln/>
        </p:spPr>
      </p:sp>
      <p:sp>
        <p:nvSpPr>
          <p:cNvPr id="12" name="Text 10"/>
          <p:cNvSpPr/>
          <p:nvPr/>
        </p:nvSpPr>
        <p:spPr>
          <a:xfrm>
            <a:off x="8046720" y="173736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Collections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8046720" y="265176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Organize, Track, Value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31520" y="3840480"/>
            <a:ext cx="3291840" cy="1828800"/>
          </a:xfrm>
          <a:prstGeom prst="rect">
            <a:avLst>
              <a:gd name="adj" fmla="val 5000"/>
            </a:avLst>
          </a:prstGeom>
          <a:solidFill>
            <a:srgbClr val="18181B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402336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Analytics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731520" y="493776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Charts, Stats, Insights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389120" y="3840480"/>
            <a:ext cx="3291840" cy="1828800"/>
          </a:xfrm>
          <a:prstGeom prst="rect">
            <a:avLst>
              <a:gd name="adj" fmla="val 5000"/>
            </a:avLst>
          </a:prstGeom>
          <a:solidFill>
            <a:srgbClr val="18181B"/>
          </a:solidFill>
          <a:ln/>
        </p:spPr>
      </p:sp>
      <p:sp>
        <p:nvSpPr>
          <p:cNvPr id="18" name="Text 16"/>
          <p:cNvSpPr/>
          <p:nvPr/>
        </p:nvSpPr>
        <p:spPr>
          <a:xfrm>
            <a:off x="4389120" y="402336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Vinyl Buddy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4389120" y="493776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BLE + OLED + SD + Gesture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8046720" y="3840480"/>
            <a:ext cx="3291840" cy="1828800"/>
          </a:xfrm>
          <a:prstGeom prst="rect">
            <a:avLst>
              <a:gd name="adj" fmla="val 5000"/>
            </a:avLst>
          </a:prstGeom>
          <a:solidFill>
            <a:srgbClr val="18181B"/>
          </a:solidFill>
          <a:ln/>
        </p:spPr>
      </p:sp>
      <p:sp>
        <p:nvSpPr>
          <p:cNvPr id="21" name="Text 19"/>
          <p:cNvSpPr/>
          <p:nvPr/>
        </p:nvSpPr>
        <p:spPr>
          <a:xfrm>
            <a:off x="8046720" y="402336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275+ APIs</a:t>
            </a:r>
            <a:endParaRPr lang="en-US" sz="3600" dirty="0"/>
          </a:p>
        </p:txBody>
      </p:sp>
      <p:sp>
        <p:nvSpPr>
          <p:cNvPr id="22" name="Text 20"/>
          <p:cNvSpPr/>
          <p:nvPr/>
        </p:nvSpPr>
        <p:spPr>
          <a:xfrm>
            <a:off x="8046720" y="493776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REST Backend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Marketplace — Buying &amp; Selling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1143000"/>
            <a:ext cx="2286000" cy="36576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463040"/>
            <a:ext cx="5120640" cy="4846320"/>
          </a:xfrm>
          <a:prstGeom prst="rect">
            <a:avLst>
              <a:gd name="adj" fmla="val 1887"/>
            </a:avLst>
          </a:prstGeom>
          <a:solidFill>
            <a:srgbClr val="18181B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16002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Buying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5840" y="2148840"/>
            <a:ext cx="457200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15000"/>
              </a:lnSpc>
              <a:spcAft>
                <a:spcPts val="400"/>
              </a:spcAft>
            </a:pPr>
            <a:r>
              <a:rPr lang="en-US" sz="13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Browse and search with advanced filters</a:t>
            </a:r>
            <a:endParaRPr lang="en-US" sz="1300" dirty="0"/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lang="en-US" sz="13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Condition grading (Goldmine scale)</a:t>
            </a:r>
            <a:endParaRPr lang="en-US" sz="1300" dirty="0"/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lang="en-US" sz="13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Secure Stripe Checkout payments</a:t>
            </a:r>
            <a:endParaRPr lang="en-US" sz="1300" dirty="0"/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lang="en-US" sz="13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Discogs-powered price suggestions</a:t>
            </a:r>
            <a:endParaRPr lang="en-US" sz="1300" dirty="0"/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lang="en-US" sz="13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One-click purchase flow</a:t>
            </a:r>
            <a:endParaRPr lang="en-US" sz="1300" dirty="0"/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lang="en-US" sz="13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 tracking and history</a:t>
            </a:r>
            <a:endParaRPr lang="en-US" sz="1300" dirty="0"/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lang="en-US" sz="13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Virtual scrolling for large result sets</a:t>
            </a:r>
            <a:endParaRPr lang="en-US" sz="1300" dirty="0"/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lang="en-US" sz="13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Card flip animations for record details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309360" y="1463040"/>
            <a:ext cx="5120640" cy="4846320"/>
          </a:xfrm>
          <a:prstGeom prst="rect">
            <a:avLst>
              <a:gd name="adj" fmla="val 1887"/>
            </a:avLst>
          </a:prstGeom>
          <a:solidFill>
            <a:srgbClr val="18181B"/>
          </a:solidFill>
          <a:ln/>
        </p:spPr>
      </p:sp>
      <p:sp>
        <p:nvSpPr>
          <p:cNvPr id="9" name="Text 7"/>
          <p:cNvSpPr/>
          <p:nvPr/>
        </p:nvSpPr>
        <p:spPr>
          <a:xfrm>
            <a:off x="6583680" y="16002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Selling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583680" y="2148840"/>
            <a:ext cx="457200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15000"/>
              </a:lnSpc>
              <a:spcAft>
                <a:spcPts val="400"/>
              </a:spcAft>
            </a:pPr>
            <a:r>
              <a:rPr lang="en-US" sz="13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 records with photos and descriptions</a:t>
            </a:r>
            <a:endParaRPr lang="en-US" sz="1300" dirty="0"/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lang="en-US" sz="13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 your own price or use AI suggestions</a:t>
            </a:r>
            <a:endParaRPr lang="en-US" sz="1300" dirty="0"/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lang="en-US" sz="13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 inventory and listings</a:t>
            </a:r>
            <a:endParaRPr lang="en-US" sz="1300" dirty="0"/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lang="en-US" sz="13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Seller dashboard with sales analytics</a:t>
            </a:r>
            <a:endParaRPr lang="en-US" sz="1300" dirty="0"/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lang="en-US" sz="13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Bulk import from CSV or Discogs</a:t>
            </a:r>
            <a:endParaRPr lang="en-US" sz="1300" dirty="0"/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lang="en-US" sz="13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Coupon and promo code support</a:t>
            </a:r>
            <a:endParaRPr lang="en-US" sz="1300" dirty="0"/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lang="en-US" sz="13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Featured listing placements</a:t>
            </a:r>
            <a:endParaRPr lang="en-US" sz="1300" dirty="0"/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lang="en-US" sz="13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Seller tier benefits and fee discounts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Marketplace — Offers &amp; Auctions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1143000"/>
            <a:ext cx="2286000" cy="36576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463040"/>
            <a:ext cx="5120640" cy="4846320"/>
          </a:xfrm>
          <a:prstGeom prst="rect">
            <a:avLst>
              <a:gd name="adj" fmla="val 1887"/>
            </a:avLst>
          </a:prstGeom>
          <a:solidFill>
            <a:srgbClr val="18181B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16002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Offers &amp; Trading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5840" y="2148840"/>
            <a:ext cx="457200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15000"/>
              </a:lnSpc>
              <a:spcAft>
                <a:spcPts val="400"/>
              </a:spcAft>
            </a:pPr>
            <a:r>
              <a:rPr lang="en-US" sz="15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Cash, trade, or combo offers</a:t>
            </a:r>
            <a:endParaRPr lang="en-US" sz="1500" dirty="0"/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lang="en-US" sz="15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Fair trade indicator for balanced exchanges</a:t>
            </a:r>
            <a:endParaRPr lang="en-US" sz="1500" dirty="0"/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lang="en-US" sz="15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Counter-offer workflow</a:t>
            </a:r>
            <a:endParaRPr lang="en-US" sz="1500" dirty="0"/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lang="en-US" sz="15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 / decline with real-time notifications</a:t>
            </a:r>
            <a:endParaRPr lang="en-US" sz="1500" dirty="0"/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lang="en-US" sz="15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Address exchange for physical trades</a:t>
            </a:r>
            <a:endParaRPr lang="en-US" sz="1500" dirty="0"/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lang="en-US" sz="15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Offer history and status tracking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309360" y="1463040"/>
            <a:ext cx="5120640" cy="4846320"/>
          </a:xfrm>
          <a:prstGeom prst="rect">
            <a:avLst>
              <a:gd name="adj" fmla="val 1887"/>
            </a:avLst>
          </a:prstGeom>
          <a:solidFill>
            <a:srgbClr val="18181B"/>
          </a:solidFill>
          <a:ln/>
        </p:spPr>
      </p:sp>
      <p:sp>
        <p:nvSpPr>
          <p:cNvPr id="9" name="Text 7"/>
          <p:cNvSpPr/>
          <p:nvPr/>
        </p:nvSpPr>
        <p:spPr>
          <a:xfrm>
            <a:off x="6583680" y="16002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Auctions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583680" y="2148840"/>
            <a:ext cx="457200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15000"/>
              </a:lnSpc>
              <a:spcAft>
                <a:spcPts val="400"/>
              </a:spcAft>
            </a:pPr>
            <a:r>
              <a:rPr lang="en-US" sz="15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Timed auction listings with start/end dates</a:t>
            </a:r>
            <a:endParaRPr lang="en-US" sz="1500" dirty="0"/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lang="en-US" sz="15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Minimum bid and reserve price support</a:t>
            </a:r>
            <a:endParaRPr lang="en-US" sz="1500" dirty="0"/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lang="en-US" sz="15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bid tracking</a:t>
            </a:r>
            <a:endParaRPr lang="en-US" sz="1500" dirty="0"/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lang="en-US" sz="15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Auto-close with winner notification</a:t>
            </a:r>
            <a:endParaRPr lang="en-US" sz="1500" dirty="0"/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lang="en-US" sz="15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Bid history visible to all participants</a:t>
            </a:r>
            <a:endParaRPr lang="en-US" sz="1500" dirty="0"/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lang="en-US" sz="15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Sniping protection with time extension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Marketplace Monetization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1143000"/>
            <a:ext cx="2286000" cy="36576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463040"/>
            <a:ext cx="5120640" cy="4846320"/>
          </a:xfrm>
          <a:prstGeom prst="rect">
            <a:avLst>
              <a:gd name="adj" fmla="val 1887"/>
            </a:avLst>
          </a:prstGeom>
          <a:solidFill>
            <a:srgbClr val="18181B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16002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Fees &amp; Revenue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5840" y="2148840"/>
            <a:ext cx="457200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15000"/>
              </a:lnSpc>
              <a:spcAft>
                <a:spcPts val="400"/>
              </a:spcAft>
            </a:pPr>
            <a:r>
              <a:rPr lang="en-US" sz="15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 transaction fee (min $1) on all sales</a:t>
            </a:r>
            <a:endParaRPr lang="en-US" sz="1500" dirty="0"/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lang="en-US" sz="15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 flat shipping fee per order</a:t>
            </a:r>
            <a:endParaRPr lang="en-US" sz="1500" dirty="0"/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lang="en-US" sz="15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Optional shipping insurance add-on</a:t>
            </a:r>
            <a:endParaRPr lang="en-US" sz="1500" dirty="0"/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lang="en-US" sz="15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Escrow fee for high-value transactions</a:t>
            </a:r>
            <a:endParaRPr lang="en-US" sz="1500" dirty="0"/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lang="en-US" sz="15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Featured listing placement fees</a:t>
            </a:r>
            <a:endParaRPr lang="en-US" sz="1500" dirty="0"/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lang="en-US" sz="15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Premium seller subscription tiers</a:t>
            </a:r>
            <a:endParaRPr lang="en-US" sz="1500" dirty="0"/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lang="en-US" sz="15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Vinyl Buddy hardware sales revenue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309360" y="1463040"/>
            <a:ext cx="5120640" cy="4846320"/>
          </a:xfrm>
          <a:prstGeom prst="rect">
            <a:avLst>
              <a:gd name="adj" fmla="val 1887"/>
            </a:avLst>
          </a:prstGeom>
          <a:solidFill>
            <a:srgbClr val="18181B"/>
          </a:solidFill>
          <a:ln/>
        </p:spPr>
      </p:sp>
      <p:sp>
        <p:nvSpPr>
          <p:cNvPr id="9" name="Text 7"/>
          <p:cNvSpPr/>
          <p:nvPr/>
        </p:nvSpPr>
        <p:spPr>
          <a:xfrm>
            <a:off x="6583680" y="16002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Seller Tiers &amp; Loyalty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583680" y="2148840"/>
            <a:ext cx="457200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15000"/>
              </a:lnSpc>
              <a:spcAft>
                <a:spcPts val="400"/>
              </a:spcAft>
            </a:pPr>
            <a:r>
              <a:rPr lang="en-US" sz="15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Bronze / Silver / Gold / Platinum seller tiers</a:t>
            </a:r>
            <a:endParaRPr lang="en-US" sz="1500" dirty="0"/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lang="en-US" sz="15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benefits: lower fees, priority support, badges</a:t>
            </a:r>
            <a:endParaRPr lang="en-US" sz="1500" dirty="0"/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lang="en-US" sz="15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Loyalty points system for repeat buyers</a:t>
            </a:r>
            <a:endParaRPr lang="en-US" sz="1500" dirty="0"/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lang="en-US" sz="15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Points redeemable for listing credits and discounts</a:t>
            </a:r>
            <a:endParaRPr lang="en-US" sz="1500" dirty="0"/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lang="en-US" sz="15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Coupon and promo code system for sellers</a:t>
            </a:r>
            <a:endParaRPr lang="en-US" sz="1500" dirty="0"/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lang="en-US" sz="15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Bulk listing discounts for power sellers</a:t>
            </a:r>
            <a:endParaRPr lang="en-US" sz="1500" dirty="0"/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lang="en-US" sz="15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Storefront customization for top-tier sellers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Transaction System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1143000"/>
            <a:ext cx="2286000" cy="36576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463040"/>
            <a:ext cx="105156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20000"/>
              </a:lnSpc>
              <a:spcAft>
                <a:spcPts val="500"/>
              </a:spcAft>
            </a:pPr>
            <a:r>
              <a:rPr lang="en-US" sz="14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 platform transaction fee (minimum $1) on all sales</a:t>
            </a:r>
            <a:endParaRPr lang="en-US" sz="1400" dirty="0"/>
          </a:p>
          <a:p>
            <a:pPr>
              <a:lnSpc>
                <a:spcPct val="120000"/>
              </a:lnSpc>
              <a:spcAft>
                <a:spcPts val="500"/>
              </a:spcAft>
            </a:pPr>
            <a:r>
              <a:rPr lang="en-US" sz="14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 flat shipping fee per order with carrier tracking</a:t>
            </a:r>
            <a:endParaRPr lang="en-US" sz="1400" dirty="0"/>
          </a:p>
          <a:p>
            <a:pPr>
              <a:lnSpc>
                <a:spcPct val="120000"/>
              </a:lnSpc>
              <a:spcAft>
                <a:spcPts val="500"/>
              </a:spcAft>
            </a:pPr>
            <a:r>
              <a:rPr lang="en-US" sz="14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Escrow system for high-value transactions</a:t>
            </a:r>
            <a:endParaRPr lang="en-US" sz="1400" dirty="0"/>
          </a:p>
          <a:p>
            <a:pPr>
              <a:lnSpc>
                <a:spcPct val="120000"/>
              </a:lnSpc>
              <a:spcAft>
                <a:spcPts val="500"/>
              </a:spcAft>
            </a:pPr>
            <a:r>
              <a:rPr lang="en-US" sz="14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Optional shipping insurance for added protection</a:t>
            </a:r>
            <a:endParaRPr lang="en-US" sz="1400" dirty="0"/>
          </a:p>
          <a:p>
            <a:pPr>
              <a:lnSpc>
                <a:spcPct val="120000"/>
              </a:lnSpc>
              <a:spcAft>
                <a:spcPts val="500"/>
              </a:spcAft>
            </a:pPr>
            <a:r>
              <a:rPr lang="en-US" sz="14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Stripe-powered secure payment processing</a:t>
            </a:r>
            <a:endParaRPr lang="en-US" sz="1400" dirty="0"/>
          </a:p>
          <a:p>
            <a:pPr>
              <a:lnSpc>
                <a:spcPct val="120000"/>
              </a:lnSpc>
              <a:spcAft>
                <a:spcPts val="500"/>
              </a:spcAft>
            </a:pPr>
            <a:r>
              <a:rPr lang="en-US" sz="14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Dispute resolution workflow with admin review</a:t>
            </a:r>
            <a:endParaRPr lang="en-US" sz="1400" dirty="0"/>
          </a:p>
          <a:p>
            <a:pPr>
              <a:lnSpc>
                <a:spcPct val="120000"/>
              </a:lnSpc>
              <a:spcAft>
                <a:spcPts val="500"/>
              </a:spcAft>
            </a:pPr>
            <a:r>
              <a:rPr lang="en-US" sz="14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Refund processing and return management</a:t>
            </a:r>
            <a:endParaRPr lang="en-US" sz="1400" dirty="0"/>
          </a:p>
          <a:p>
            <a:pPr>
              <a:lnSpc>
                <a:spcPct val="120000"/>
              </a:lnSpc>
              <a:spcAft>
                <a:spcPts val="500"/>
              </a:spcAft>
            </a:pPr>
            <a:r>
              <a:rPr lang="en-US" sz="14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transaction history with receipts</a:t>
            </a:r>
            <a:endParaRPr lang="en-US" sz="1400" dirty="0"/>
          </a:p>
          <a:p>
            <a:pPr>
              <a:lnSpc>
                <a:spcPct val="120000"/>
              </a:lnSpc>
              <a:spcAft>
                <a:spcPts val="500"/>
              </a:spcAft>
            </a:pPr>
            <a:r>
              <a:rPr lang="en-US" sz="14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 calculator so sellers preview net proceeds before listing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Features — Feed, Posts &amp; Stories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1143000"/>
            <a:ext cx="2286000" cy="36576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463040"/>
            <a:ext cx="5120640" cy="4846320"/>
          </a:xfrm>
          <a:prstGeom prst="rect">
            <a:avLst>
              <a:gd name="adj" fmla="val 1887"/>
            </a:avLst>
          </a:prstGeom>
          <a:solidFill>
            <a:srgbClr val="18181B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16002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Activity Feed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5840" y="2148840"/>
            <a:ext cx="457200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15000"/>
              </a:lnSpc>
              <a:spcAft>
                <a:spcPts val="400"/>
              </a:spcAft>
            </a:pPr>
            <a:r>
              <a:rPr lang="en-US" sz="15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Chronological and trending content</a:t>
            </a:r>
            <a:endParaRPr lang="en-US" sz="1500" dirty="0"/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lang="en-US" sz="15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Rich post types: text, photo, record shares</a:t>
            </a:r>
            <a:endParaRPr lang="en-US" sz="1500" dirty="0"/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lang="en-US" sz="15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Like, comment, save, and bookmark</a:t>
            </a:r>
            <a:endParaRPr lang="en-US" sz="1500" dirty="0"/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lang="en-US" sz="15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 records from your collection to the feed</a:t>
            </a:r>
            <a:endParaRPr lang="en-US" sz="1500" dirty="0"/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lang="en-US" sz="15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Trending posts algorithm</a:t>
            </a:r>
            <a:endParaRPr lang="en-US" sz="1500" dirty="0"/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lang="en-US" sz="15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Filtered views: following, popular, recent</a:t>
            </a:r>
            <a:endParaRPr lang="en-US" sz="1500" dirty="0"/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lang="en-US" sz="15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Virtual scrolling for infinite feed performance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309360" y="1463040"/>
            <a:ext cx="5120640" cy="4846320"/>
          </a:xfrm>
          <a:prstGeom prst="rect">
            <a:avLst>
              <a:gd name="adj" fmla="val 1887"/>
            </a:avLst>
          </a:prstGeom>
          <a:solidFill>
            <a:srgbClr val="18181B"/>
          </a:solidFill>
          <a:ln/>
        </p:spPr>
      </p:sp>
      <p:sp>
        <p:nvSpPr>
          <p:cNvPr id="9" name="Text 7"/>
          <p:cNvSpPr/>
          <p:nvPr/>
        </p:nvSpPr>
        <p:spPr>
          <a:xfrm>
            <a:off x="6583680" y="16002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Stories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583680" y="2148840"/>
            <a:ext cx="457200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15000"/>
              </a:lnSpc>
              <a:spcAft>
                <a:spcPts val="400"/>
              </a:spcAft>
            </a:pPr>
            <a:r>
              <a:rPr lang="en-US" sz="15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Ephemeral 24-hour stories</a:t>
            </a:r>
            <a:endParaRPr lang="en-US" sz="1500" dirty="0"/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lang="en-US" sz="15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Photo and text story formats</a:t>
            </a:r>
            <a:endParaRPr lang="en-US" sz="1500" dirty="0"/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lang="en-US" sz="15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Story ring indicator on profile avatars</a:t>
            </a:r>
            <a:endParaRPr lang="en-US" sz="1500" dirty="0"/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lang="en-US" sz="15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 count and viewer list</a:t>
            </a:r>
            <a:endParaRPr lang="en-US" sz="1500" dirty="0"/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lang="en-US" sz="15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Tap-through story navigation</a:t>
            </a:r>
            <a:endParaRPr lang="en-US" sz="1500" dirty="0"/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lang="en-US" sz="15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Story highlights on profile</a:t>
            </a:r>
            <a:endParaRPr lang="en-US" sz="1500" dirty="0"/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lang="en-US" sz="15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Card flip transitions between stories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Messaging System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1143000"/>
            <a:ext cx="2286000" cy="36576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463040"/>
            <a:ext cx="105156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20000"/>
              </a:lnSpc>
              <a:spcAft>
                <a:spcPts val="500"/>
              </a:spcAft>
            </a:pPr>
            <a:r>
              <a:rPr lang="en-US" sz="14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direct messaging between collectors</a:t>
            </a:r>
            <a:endParaRPr lang="en-US" sz="1400" dirty="0"/>
          </a:p>
          <a:p>
            <a:pPr>
              <a:lnSpc>
                <a:spcPct val="120000"/>
              </a:lnSpc>
              <a:spcAft>
                <a:spcPts val="500"/>
              </a:spcAft>
            </a:pPr>
            <a:r>
              <a:rPr lang="en-US" sz="14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receipts with delivered/read status indicators</a:t>
            </a:r>
            <a:endParaRPr lang="en-US" sz="1400" dirty="0"/>
          </a:p>
          <a:p>
            <a:pPr>
              <a:lnSpc>
                <a:spcPct val="120000"/>
              </a:lnSpc>
              <a:spcAft>
                <a:spcPts val="500"/>
              </a:spcAft>
            </a:pPr>
            <a:r>
              <a:rPr lang="en-US" sz="14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Message threads organized by conversation</a:t>
            </a:r>
            <a:endParaRPr lang="en-US" sz="1400" dirty="0"/>
          </a:p>
          <a:p>
            <a:pPr>
              <a:lnSpc>
                <a:spcPct val="120000"/>
              </a:lnSpc>
              <a:spcAft>
                <a:spcPts val="500"/>
              </a:spcAft>
            </a:pPr>
            <a:r>
              <a:rPr lang="en-US" sz="14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Typing indicators and online presence</a:t>
            </a:r>
            <a:endParaRPr lang="en-US" sz="1400" dirty="0"/>
          </a:p>
          <a:p>
            <a:pPr>
              <a:lnSpc>
                <a:spcPct val="120000"/>
              </a:lnSpc>
              <a:spcAft>
                <a:spcPts val="500"/>
              </a:spcAft>
            </a:pPr>
            <a:r>
              <a:rPr lang="en-US" sz="14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 records and listings in messages</a:t>
            </a:r>
            <a:endParaRPr lang="en-US" sz="1400" dirty="0"/>
          </a:p>
          <a:p>
            <a:pPr>
              <a:lnSpc>
                <a:spcPct val="120000"/>
              </a:lnSpc>
              <a:spcAft>
                <a:spcPts val="500"/>
              </a:spcAft>
            </a:pPr>
            <a:r>
              <a:rPr lang="en-US" sz="14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Message reactions and pinned messages</a:t>
            </a:r>
            <a:endParaRPr lang="en-US" sz="1400" dirty="0"/>
          </a:p>
          <a:p>
            <a:pPr>
              <a:lnSpc>
                <a:spcPct val="120000"/>
              </a:lnSpc>
              <a:spcAft>
                <a:spcPts val="500"/>
              </a:spcAft>
            </a:pPr>
            <a:r>
              <a:rPr lang="en-US" sz="14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Scheduled messages — compose now, send later</a:t>
            </a:r>
            <a:endParaRPr lang="en-US" sz="1400" dirty="0"/>
          </a:p>
          <a:p>
            <a:pPr>
              <a:lnSpc>
                <a:spcPct val="120000"/>
              </a:lnSpc>
              <a:spcAft>
                <a:spcPts val="500"/>
              </a:spcAft>
            </a:pPr>
            <a:r>
              <a:rPr lang="en-US" sz="14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Conversation archiving for inbox management</a:t>
            </a:r>
            <a:endParaRPr lang="en-US" sz="1400" dirty="0"/>
          </a:p>
          <a:p>
            <a:pPr>
              <a:lnSpc>
                <a:spcPct val="120000"/>
              </a:lnSpc>
              <a:spcAft>
                <a:spcPts val="500"/>
              </a:spcAft>
            </a:pPr>
            <a:r>
              <a:rPr lang="en-US" sz="14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Attachment support: images, audio, documents</a:t>
            </a:r>
            <a:endParaRPr lang="en-US" sz="1400" dirty="0"/>
          </a:p>
          <a:p>
            <a:pPr>
              <a:lnSpc>
                <a:spcPct val="120000"/>
              </a:lnSpc>
              <a:spcAft>
                <a:spcPts val="500"/>
              </a:spcAft>
            </a:pPr>
            <a:r>
              <a:rPr lang="en-US" sz="14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Drawer modal interface for quick DM access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Collection Management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1143000"/>
            <a:ext cx="2286000" cy="36576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463040"/>
            <a:ext cx="105156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20000"/>
              </a:lnSpc>
              <a:spcAft>
                <a:spcPts val="500"/>
              </a:spcAft>
            </a:pPr>
            <a:r>
              <a:rPr lang="en-US" sz="14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records manually or import from Discogs / CSV</a:t>
            </a:r>
            <a:endParaRPr lang="en-US" sz="1400" dirty="0"/>
          </a:p>
          <a:p>
            <a:pPr>
              <a:lnSpc>
                <a:spcPct val="120000"/>
              </a:lnSpc>
              <a:spcAft>
                <a:spcPts val="500"/>
              </a:spcAft>
            </a:pPr>
            <a:r>
              <a:rPr lang="en-US" sz="14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Organize with custom folders, tags, and categories</a:t>
            </a:r>
            <a:endParaRPr lang="en-US" sz="1400" dirty="0"/>
          </a:p>
          <a:p>
            <a:pPr>
              <a:lnSpc>
                <a:spcPct val="120000"/>
              </a:lnSpc>
              <a:spcAft>
                <a:spcPts val="500"/>
              </a:spcAft>
            </a:pPr>
            <a:r>
              <a:rPr lang="en-US" sz="14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Condition grading using the Goldmine standard</a:t>
            </a:r>
            <a:endParaRPr lang="en-US" sz="1400" dirty="0"/>
          </a:p>
          <a:p>
            <a:pPr>
              <a:lnSpc>
                <a:spcPct val="120000"/>
              </a:lnSpc>
              <a:spcAft>
                <a:spcPts val="500"/>
              </a:spcAft>
            </a:pPr>
            <a:r>
              <a:rPr lang="en-US" sz="14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purchase price, date acquired, and current value</a:t>
            </a:r>
            <a:endParaRPr lang="en-US" sz="1400" dirty="0"/>
          </a:p>
          <a:p>
            <a:pPr>
              <a:lnSpc>
                <a:spcPct val="120000"/>
              </a:lnSpc>
              <a:spcAft>
                <a:spcPts val="500"/>
              </a:spcAft>
            </a:pPr>
            <a:r>
              <a:rPr lang="en-US" sz="14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Collection value estimation powered by Discogs pricing</a:t>
            </a:r>
            <a:endParaRPr lang="en-US" sz="1400" dirty="0"/>
          </a:p>
          <a:p>
            <a:pPr>
              <a:lnSpc>
                <a:spcPct val="120000"/>
              </a:lnSpc>
              <a:spcAft>
                <a:spcPts val="500"/>
              </a:spcAft>
            </a:pPr>
            <a:r>
              <a:rPr lang="en-US" sz="14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Duplicate detection and merge tools</a:t>
            </a:r>
            <a:endParaRPr lang="en-US" sz="1400" dirty="0"/>
          </a:p>
          <a:p>
            <a:pPr>
              <a:lnSpc>
                <a:spcPct val="120000"/>
              </a:lnSpc>
              <a:spcAft>
                <a:spcPts val="500"/>
              </a:spcAft>
            </a:pPr>
            <a:r>
              <a:rPr lang="en-US" sz="14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Collection sharing with public/private visibility</a:t>
            </a:r>
            <a:endParaRPr lang="en-US" sz="1400" dirty="0"/>
          </a:p>
          <a:p>
            <a:pPr>
              <a:lnSpc>
                <a:spcPct val="120000"/>
              </a:lnSpc>
              <a:spcAft>
                <a:spcPts val="500"/>
              </a:spcAft>
            </a:pPr>
            <a:r>
              <a:rPr lang="en-US" sz="14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Export collection data as CSV</a:t>
            </a:r>
            <a:endParaRPr lang="en-US" sz="1400" dirty="0"/>
          </a:p>
          <a:p>
            <a:pPr>
              <a:lnSpc>
                <a:spcPct val="120000"/>
              </a:lnSpc>
              <a:spcAft>
                <a:spcPts val="500"/>
              </a:spcAft>
            </a:pPr>
            <a:r>
              <a:rPr lang="en-US" sz="14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Virtual scrolling for collections with 1,000+ records</a:t>
            </a:r>
            <a:endParaRPr lang="en-US" sz="1400" dirty="0"/>
          </a:p>
          <a:p>
            <a:pPr>
              <a:lnSpc>
                <a:spcPct val="120000"/>
              </a:lnSpc>
              <a:spcAft>
                <a:spcPts val="500"/>
              </a:spcAft>
            </a:pPr>
            <a:r>
              <a:rPr lang="en-US" sz="14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Card flip animations for quick record preview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Analytics Dashboard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1143000"/>
            <a:ext cx="2286000" cy="36576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463040"/>
            <a:ext cx="105156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20000"/>
              </a:lnSpc>
              <a:spcAft>
                <a:spcPts val="500"/>
              </a:spcAft>
            </a:pPr>
            <a:r>
              <a:rPr lang="en-US" sz="14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dashboard with custom SVG charts (zero external deps)</a:t>
            </a:r>
            <a:endParaRPr lang="en-US" sz="1400" dirty="0"/>
          </a:p>
          <a:p>
            <a:pPr>
              <a:lnSpc>
                <a:spcPct val="120000"/>
              </a:lnSpc>
              <a:spcAft>
                <a:spcPts val="500"/>
              </a:spcAft>
            </a:pPr>
            <a:r>
              <a:rPr lang="en-US" sz="14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Collection value tracking over time with trend lines</a:t>
            </a:r>
            <a:endParaRPr lang="en-US" sz="1400" dirty="0"/>
          </a:p>
          <a:p>
            <a:pPr>
              <a:lnSpc>
                <a:spcPct val="120000"/>
              </a:lnSpc>
              <a:spcAft>
                <a:spcPts val="500"/>
              </a:spcAft>
            </a:pPr>
            <a:r>
              <a:rPr lang="en-US" sz="14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Genre distribution pie chart and condition breakdown</a:t>
            </a:r>
            <a:endParaRPr lang="en-US" sz="1400" dirty="0"/>
          </a:p>
          <a:p>
            <a:pPr>
              <a:lnSpc>
                <a:spcPct val="120000"/>
              </a:lnSpc>
              <a:spcAft>
                <a:spcPts val="500"/>
              </a:spcAft>
            </a:pPr>
            <a:r>
              <a:rPr lang="en-US" sz="14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 spending analytics with bar charts</a:t>
            </a:r>
            <a:endParaRPr lang="en-US" sz="1400" dirty="0"/>
          </a:p>
          <a:p>
            <a:pPr>
              <a:lnSpc>
                <a:spcPct val="120000"/>
              </a:lnSpc>
              <a:spcAft>
                <a:spcPts val="500"/>
              </a:spcAft>
            </a:pPr>
            <a:r>
              <a:rPr lang="en-US" sz="14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Seller/buyer analytics with top partners and trends</a:t>
            </a:r>
            <a:endParaRPr lang="en-US" sz="1400" dirty="0"/>
          </a:p>
          <a:p>
            <a:pPr>
              <a:lnSpc>
                <a:spcPct val="120000"/>
              </a:lnSpc>
              <a:spcAft>
                <a:spcPts val="500"/>
              </a:spcAft>
            </a:pPr>
            <a:r>
              <a:rPr lang="en-US" sz="14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Listening pattern analysis from Vinyl Buddy data</a:t>
            </a:r>
            <a:endParaRPr lang="en-US" sz="1400" dirty="0"/>
          </a:p>
          <a:p>
            <a:pPr>
              <a:lnSpc>
                <a:spcPct val="120000"/>
              </a:lnSpc>
              <a:spcAft>
                <a:spcPts val="500"/>
              </a:spcAft>
            </a:pPr>
            <a:r>
              <a:rPr lang="en-US" sz="14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played artists, albums, and genre heatmaps</a:t>
            </a:r>
            <a:endParaRPr lang="en-US" sz="1400" dirty="0"/>
          </a:p>
          <a:p>
            <a:pPr>
              <a:lnSpc>
                <a:spcPct val="120000"/>
              </a:lnSpc>
              <a:spcAft>
                <a:spcPts val="500"/>
              </a:spcAft>
            </a:pPr>
            <a:r>
              <a:rPr lang="en-US" sz="14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Mood detection and taste evolution over time</a:t>
            </a:r>
            <a:endParaRPr lang="en-US" sz="1400" dirty="0"/>
          </a:p>
          <a:p>
            <a:pPr>
              <a:lnSpc>
                <a:spcPct val="120000"/>
              </a:lnSpc>
              <a:spcAft>
                <a:spcPts val="500"/>
              </a:spcAft>
            </a:pPr>
            <a:r>
              <a:rPr lang="en-US" sz="14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range filtering: all time, 12mo, 6mo, 3mo, 30 days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&amp; Discovery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1143000"/>
            <a:ext cx="2286000" cy="36576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463040"/>
            <a:ext cx="105156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20000"/>
              </a:lnSpc>
              <a:spcAft>
                <a:spcPts val="500"/>
              </a:spcAft>
            </a:pPr>
            <a:r>
              <a:rPr lang="en-US" sz="16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Browse records by genre, artist, era, condition, and price</a:t>
            </a:r>
            <a:endParaRPr lang="en-US" sz="1600" dirty="0"/>
          </a:p>
          <a:p>
            <a:pPr>
              <a:lnSpc>
                <a:spcPct val="120000"/>
              </a:lnSpc>
              <a:spcAft>
                <a:spcPts val="500"/>
              </a:spcAft>
            </a:pPr>
            <a:r>
              <a:rPr lang="en-US" sz="16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Full-text search across records, users, and posts</a:t>
            </a:r>
            <a:endParaRPr lang="en-US" sz="1600" dirty="0"/>
          </a:p>
          <a:p>
            <a:pPr>
              <a:lnSpc>
                <a:spcPct val="120000"/>
              </a:lnSpc>
              <a:spcAft>
                <a:spcPts val="500"/>
              </a:spcAft>
            </a:pPr>
            <a:r>
              <a:rPr lang="en-US" sz="16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Trending records and popular sellers highlighted</a:t>
            </a:r>
            <a:endParaRPr lang="en-US" sz="1600" dirty="0"/>
          </a:p>
          <a:p>
            <a:pPr>
              <a:lnSpc>
                <a:spcPct val="120000"/>
              </a:lnSpc>
              <a:spcAft>
                <a:spcPts val="500"/>
              </a:spcAft>
            </a:pPr>
            <a:r>
              <a:rPr lang="en-US" sz="16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Genre and subgenre taxonomy (18 genres, 85+ subgenres)</a:t>
            </a:r>
            <a:endParaRPr lang="en-US" sz="1600" dirty="0"/>
          </a:p>
          <a:p>
            <a:pPr>
              <a:lnSpc>
                <a:spcPct val="120000"/>
              </a:lnSpc>
              <a:spcAft>
                <a:spcPts val="500"/>
              </a:spcAft>
            </a:pPr>
            <a:r>
              <a:rPr lang="en-US" sz="16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arrivals and recently listed sections</a:t>
            </a:r>
            <a:endParaRPr lang="en-US" sz="1600" dirty="0"/>
          </a:p>
          <a:p>
            <a:pPr>
              <a:lnSpc>
                <a:spcPct val="120000"/>
              </a:lnSpc>
              <a:spcAft>
                <a:spcPts val="500"/>
              </a:spcAft>
            </a:pPr>
            <a:r>
              <a:rPr lang="en-US" sz="16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Personalized recommendations based on collection and listening</a:t>
            </a:r>
            <a:endParaRPr lang="en-US" sz="1600" dirty="0"/>
          </a:p>
          <a:p>
            <a:pPr>
              <a:lnSpc>
                <a:spcPct val="120000"/>
              </a:lnSpc>
              <a:spcAft>
                <a:spcPts val="500"/>
              </a:spcAft>
            </a:pPr>
            <a:r>
              <a:rPr lang="en-US" sz="16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Artist profile pages with discography and related records</a:t>
            </a:r>
            <a:endParaRPr lang="en-US" sz="1600" dirty="0"/>
          </a:p>
          <a:p>
            <a:pPr>
              <a:lnSpc>
                <a:spcPct val="120000"/>
              </a:lnSpc>
              <a:spcAft>
                <a:spcPts val="500"/>
              </a:spcAft>
            </a:pPr>
            <a:r>
              <a:rPr lang="en-US" sz="16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Virtual scrolling for smooth browsing of large catalogs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Profiles &amp; Reputation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1143000"/>
            <a:ext cx="2286000" cy="36576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463040"/>
            <a:ext cx="5120640" cy="4846320"/>
          </a:xfrm>
          <a:prstGeom prst="rect">
            <a:avLst>
              <a:gd name="adj" fmla="val 1887"/>
            </a:avLst>
          </a:prstGeom>
          <a:solidFill>
            <a:srgbClr val="18181B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16002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Profiles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5840" y="2148840"/>
            <a:ext cx="457200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15000"/>
              </a:lnSpc>
              <a:spcAft>
                <a:spcPts val="400"/>
              </a:spcAft>
            </a:pPr>
            <a:r>
              <a:rPr lang="en-US" sz="15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Customizable bio, avatar, header image, and accent color</a:t>
            </a:r>
            <a:endParaRPr lang="en-US" sz="1500" dirty="0"/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lang="en-US" sz="15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collection and wishlist showcase</a:t>
            </a:r>
            <a:endParaRPr lang="en-US" sz="1500" dirty="0"/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lang="en-US" sz="15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Six profile tabs: Posts, Listening, Records, For Sale, Saved, Wishlist</a:t>
            </a:r>
            <a:endParaRPr lang="en-US" sz="1500" dirty="0"/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lang="en-US" sz="15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Badge display (verified, achievements, tier)</a:t>
            </a:r>
            <a:endParaRPr lang="en-US" sz="1500" dirty="0"/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lang="en-US" sz="15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Profile stats: records, posts, sales</a:t>
            </a:r>
            <a:endParaRPr lang="en-US" sz="1500" dirty="0"/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lang="en-US" sz="15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QR code generation for easy sharing</a:t>
            </a:r>
            <a:endParaRPr lang="en-US" sz="1500" dirty="0"/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lang="en-US" sz="15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Activity heatmap showing engagement over time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309360" y="1463040"/>
            <a:ext cx="5120640" cy="4846320"/>
          </a:xfrm>
          <a:prstGeom prst="rect">
            <a:avLst>
              <a:gd name="adj" fmla="val 1887"/>
            </a:avLst>
          </a:prstGeom>
          <a:solidFill>
            <a:srgbClr val="18181B"/>
          </a:solidFill>
          <a:ln/>
        </p:spPr>
      </p:sp>
      <p:sp>
        <p:nvSpPr>
          <p:cNvPr id="9" name="Text 7"/>
          <p:cNvSpPr/>
          <p:nvPr/>
        </p:nvSpPr>
        <p:spPr>
          <a:xfrm>
            <a:off x="6583680" y="16002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Reputation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583680" y="2148840"/>
            <a:ext cx="457200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15000"/>
              </a:lnSpc>
              <a:spcAft>
                <a:spcPts val="400"/>
              </a:spcAft>
            </a:pPr>
            <a:r>
              <a:rPr lang="en-US" sz="15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Reputation score from sales and reviews</a:t>
            </a:r>
            <a:endParaRPr lang="en-US" sz="1500" dirty="0"/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lang="en-US" sz="15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 ratings from buyers and sellers</a:t>
            </a:r>
            <a:endParaRPr lang="en-US" sz="1500" dirty="0"/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lang="en-US" sz="15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Dispute history factored into trust</a:t>
            </a:r>
            <a:endParaRPr lang="en-US" sz="1500" dirty="0"/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lang="en-US" sz="15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Seller tier badges (Bronze, Silver, Gold, Platinum)</a:t>
            </a:r>
            <a:endParaRPr lang="en-US" sz="1500" dirty="0"/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lang="en-US" sz="15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Verified vinyl checkmark badge</a:t>
            </a:r>
            <a:endParaRPr lang="en-US" sz="1500" dirty="0"/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lang="en-US" sz="15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Tiered identity verification (email, phone, ID)</a:t>
            </a:r>
            <a:endParaRPr lang="en-US" sz="1500" dirty="0"/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lang="en-US" sz="15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Collector badge for high-ranking users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Following &amp; Social Graph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1143000"/>
            <a:ext cx="2286000" cy="36576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463040"/>
            <a:ext cx="105156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20000"/>
              </a:lnSpc>
              <a:spcAft>
                <a:spcPts val="500"/>
              </a:spcAft>
            </a:pPr>
            <a:r>
              <a:rPr lang="en-US" sz="16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Follow collectors to see their posts and listings in your feed</a:t>
            </a:r>
            <a:endParaRPr lang="en-US" sz="1600" dirty="0"/>
          </a:p>
          <a:p>
            <a:pPr>
              <a:lnSpc>
                <a:spcPct val="120000"/>
              </a:lnSpc>
              <a:spcAft>
                <a:spcPts val="500"/>
              </a:spcAft>
            </a:pPr>
            <a:r>
              <a:rPr lang="en-US" sz="16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Followers / following counts displayed on profiles</a:t>
            </a:r>
            <a:endParaRPr lang="en-US" sz="1600" dirty="0"/>
          </a:p>
          <a:p>
            <a:pPr>
              <a:lnSpc>
                <a:spcPct val="120000"/>
              </a:lnSpc>
              <a:spcAft>
                <a:spcPts val="500"/>
              </a:spcAft>
            </a:pPr>
            <a:r>
              <a:rPr lang="en-US" sz="16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Mutual follow detection for closer connections</a:t>
            </a:r>
            <a:endParaRPr lang="en-US" sz="1600" dirty="0"/>
          </a:p>
          <a:p>
            <a:pPr>
              <a:lnSpc>
                <a:spcPct val="120000"/>
              </a:lnSpc>
              <a:spcAft>
                <a:spcPts val="500"/>
              </a:spcAft>
            </a:pPr>
            <a:r>
              <a:rPr lang="en-US" sz="16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Follow suggestions based on shared tastes</a:t>
            </a:r>
            <a:endParaRPr lang="en-US" sz="1600" dirty="0"/>
          </a:p>
          <a:p>
            <a:pPr>
              <a:lnSpc>
                <a:spcPct val="120000"/>
              </a:lnSpc>
              <a:spcAft>
                <a:spcPts val="500"/>
              </a:spcAft>
            </a:pPr>
            <a:r>
              <a:rPr lang="en-US" sz="16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Activity notifications when followed users post or list</a:t>
            </a:r>
            <a:endParaRPr lang="en-US" sz="1600" dirty="0"/>
          </a:p>
          <a:p>
            <a:pPr>
              <a:lnSpc>
                <a:spcPct val="120000"/>
              </a:lnSpc>
              <a:spcAft>
                <a:spcPts val="500"/>
              </a:spcAft>
            </a:pPr>
            <a:r>
              <a:rPr lang="en-US" sz="16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Discover collectors with similar collections</a:t>
            </a:r>
            <a:endParaRPr lang="en-US" sz="1600" dirty="0"/>
          </a:p>
          <a:p>
            <a:pPr>
              <a:lnSpc>
                <a:spcPct val="120000"/>
              </a:lnSpc>
              <a:spcAft>
                <a:spcPts val="500"/>
              </a:spcAft>
            </a:pPr>
            <a:r>
              <a:rPr lang="en-US" sz="16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 bookmarking for saving posts to read later</a:t>
            </a:r>
            <a:endParaRPr lang="en-US"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Wishlist &amp; Price Alerts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1143000"/>
            <a:ext cx="2286000" cy="36576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463040"/>
            <a:ext cx="105156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20000"/>
              </a:lnSpc>
              <a:spcAft>
                <a:spcPts val="500"/>
              </a:spcAft>
            </a:pPr>
            <a:r>
              <a:rPr lang="en-US" sz="16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Save any record to your personal wishlist</a:t>
            </a:r>
            <a:endParaRPr lang="en-US" sz="1600" dirty="0"/>
          </a:p>
          <a:p>
            <a:pPr>
              <a:lnSpc>
                <a:spcPct val="120000"/>
              </a:lnSpc>
              <a:spcAft>
                <a:spcPts val="500"/>
              </a:spcAft>
            </a:pPr>
            <a:r>
              <a:rPr lang="en-US" sz="16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Priority levels: High, Medium, Low with color-coded indicators</a:t>
            </a:r>
            <a:endParaRPr lang="en-US" sz="1600" dirty="0"/>
          </a:p>
          <a:p>
            <a:pPr>
              <a:lnSpc>
                <a:spcPct val="120000"/>
              </a:lnSpc>
              <a:spcAft>
                <a:spcPts val="500"/>
              </a:spcAft>
            </a:pPr>
            <a:r>
              <a:rPr lang="en-US" sz="16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 alert notifications when wishlist items are listed</a:t>
            </a:r>
            <a:endParaRPr lang="en-US" sz="1600" dirty="0"/>
          </a:p>
          <a:p>
            <a:pPr>
              <a:lnSpc>
                <a:spcPct val="120000"/>
              </a:lnSpc>
              <a:spcAft>
                <a:spcPts val="500"/>
              </a:spcAft>
            </a:pPr>
            <a:r>
              <a:rPr lang="en-US" sz="16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 when wishlist items drop below target price</a:t>
            </a:r>
            <a:endParaRPr lang="en-US" sz="1600" dirty="0"/>
          </a:p>
          <a:p>
            <a:pPr>
              <a:lnSpc>
                <a:spcPct val="120000"/>
              </a:lnSpc>
              <a:spcAft>
                <a:spcPts val="500"/>
              </a:spcAft>
            </a:pPr>
            <a:r>
              <a:rPr lang="en-US" sz="16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Automatic matching when marketplace listings match wishlist items</a:t>
            </a:r>
            <a:endParaRPr lang="en-US" sz="1600" dirty="0"/>
          </a:p>
          <a:p>
            <a:pPr>
              <a:lnSpc>
                <a:spcPct val="120000"/>
              </a:lnSpc>
              <a:spcAft>
                <a:spcPts val="500"/>
              </a:spcAft>
            </a:pPr>
            <a:r>
              <a:rPr lang="en-US" sz="16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Discogs wantlist import</a:t>
            </a:r>
            <a:endParaRPr lang="en-US" sz="1600" dirty="0"/>
          </a:p>
          <a:p>
            <a:pPr>
              <a:lnSpc>
                <a:spcPct val="120000"/>
              </a:lnSpc>
              <a:spcAft>
                <a:spcPts val="500"/>
              </a:spcAft>
            </a:pPr>
            <a:r>
              <a:rPr lang="en-US" sz="16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 wishlist links with friends or publicly</a:t>
            </a:r>
            <a:endParaRPr lang="en-US" sz="1600" dirty="0"/>
          </a:p>
          <a:p>
            <a:pPr>
              <a:lnSpc>
                <a:spcPct val="120000"/>
              </a:lnSpc>
              <a:spcAft>
                <a:spcPts val="500"/>
              </a:spcAft>
            </a:pPr>
            <a:r>
              <a:rPr lang="en-US" sz="16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Sorting and filtering by date, priority, price, or artist</a:t>
            </a:r>
            <a:endParaRPr lang="en-US" sz="1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Notifications System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1143000"/>
            <a:ext cx="2286000" cy="36576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463040"/>
            <a:ext cx="105156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20000"/>
              </a:lnSpc>
              <a:spcAft>
                <a:spcPts val="500"/>
              </a:spcAft>
            </a:pPr>
            <a:r>
              <a:rPr lang="en-US" sz="16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Categorized notifications: offers, messages, follows, likes, price alerts, system</a:t>
            </a:r>
            <a:endParaRPr lang="en-US" sz="1600" dirty="0"/>
          </a:p>
          <a:p>
            <a:pPr>
              <a:lnSpc>
                <a:spcPct val="120000"/>
              </a:lnSpc>
              <a:spcAft>
                <a:spcPts val="500"/>
              </a:spcAft>
            </a:pPr>
            <a:r>
              <a:rPr lang="en-US" sz="16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Inline actions: accept/decline offers directly from notifications</a:t>
            </a:r>
            <a:endParaRPr lang="en-US" sz="1600" dirty="0"/>
          </a:p>
          <a:p>
            <a:pPr>
              <a:lnSpc>
                <a:spcPct val="120000"/>
              </a:lnSpc>
              <a:spcAft>
                <a:spcPts val="500"/>
              </a:spcAft>
            </a:pPr>
            <a:r>
              <a:rPr lang="en-US" sz="16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 as read individually or mark all as read</a:t>
            </a:r>
            <a:endParaRPr lang="en-US" sz="1600" dirty="0"/>
          </a:p>
          <a:p>
            <a:pPr>
              <a:lnSpc>
                <a:spcPct val="120000"/>
              </a:lnSpc>
              <a:spcAft>
                <a:spcPts val="500"/>
              </a:spcAft>
            </a:pPr>
            <a:r>
              <a:rPr lang="en-US" sz="16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 notification triggers for critical events</a:t>
            </a:r>
            <a:endParaRPr lang="en-US" sz="1600" dirty="0"/>
          </a:p>
          <a:p>
            <a:pPr>
              <a:lnSpc>
                <a:spcPct val="120000"/>
              </a:lnSpc>
              <a:spcAft>
                <a:spcPts val="500"/>
              </a:spcAft>
            </a:pPr>
            <a:r>
              <a:rPr lang="en-US" sz="16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Unread count badges in navigation</a:t>
            </a:r>
            <a:endParaRPr lang="en-US" sz="1600" dirty="0"/>
          </a:p>
          <a:p>
            <a:pPr>
              <a:lnSpc>
                <a:spcPct val="120000"/>
              </a:lnSpc>
              <a:spcAft>
                <a:spcPts val="500"/>
              </a:spcAft>
            </a:pPr>
            <a:r>
              <a:rPr lang="en-US" sz="16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Granular notification preferences by category</a:t>
            </a:r>
            <a:endParaRPr lang="en-US" sz="1600" dirty="0"/>
          </a:p>
          <a:p>
            <a:pPr>
              <a:lnSpc>
                <a:spcPct val="120000"/>
              </a:lnSpc>
              <a:spcAft>
                <a:spcPts val="500"/>
              </a:spcAft>
            </a:pPr>
            <a:r>
              <a:rPr lang="en-US" sz="16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Push notification support via service workers</a:t>
            </a:r>
            <a:endParaRPr lang="en-US" sz="1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Settings &amp; Customization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1143000"/>
            <a:ext cx="2286000" cy="36576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463040"/>
            <a:ext cx="105156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20000"/>
              </a:lnSpc>
              <a:spcAft>
                <a:spcPts val="500"/>
              </a:spcAft>
            </a:pPr>
            <a:r>
              <a:rPr lang="en-US" sz="14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Account settings: email, username, password, 2FA</a:t>
            </a:r>
            <a:endParaRPr lang="en-US" sz="1400" dirty="0"/>
          </a:p>
          <a:p>
            <a:pPr>
              <a:lnSpc>
                <a:spcPct val="120000"/>
              </a:lnSpc>
              <a:spcAft>
                <a:spcPts val="500"/>
              </a:spcAft>
            </a:pPr>
            <a:r>
              <a:rPr lang="en-US" sz="14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Appearance: dark/light theme, 8 accent colors, font size</a:t>
            </a:r>
            <a:endParaRPr lang="en-US" sz="1400" dirty="0"/>
          </a:p>
          <a:p>
            <a:pPr>
              <a:lnSpc>
                <a:spcPct val="120000"/>
              </a:lnSpc>
              <a:spcAft>
                <a:spcPts val="500"/>
              </a:spcAft>
            </a:pPr>
            <a:r>
              <a:rPr lang="en-US" sz="14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Language: i18n-ready with 8 language support</a:t>
            </a:r>
            <a:endParaRPr lang="en-US" sz="1400" dirty="0"/>
          </a:p>
          <a:p>
            <a:pPr>
              <a:lnSpc>
                <a:spcPct val="120000"/>
              </a:lnSpc>
              <a:spcAft>
                <a:spcPts val="500"/>
              </a:spcAft>
            </a:pPr>
            <a:r>
              <a:rPr lang="en-US" sz="14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Customizable keyboard shortcuts for navigation and actions</a:t>
            </a:r>
            <a:endParaRPr lang="en-US" sz="1400" dirty="0"/>
          </a:p>
          <a:p>
            <a:pPr>
              <a:lnSpc>
                <a:spcPct val="120000"/>
              </a:lnSpc>
              <a:spcAft>
                <a:spcPts val="500"/>
              </a:spcAft>
            </a:pPr>
            <a:r>
              <a:rPr lang="en-US" sz="14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Connected accounts: Discogs, Spotify, Last.fm, Apple Music</a:t>
            </a:r>
            <a:endParaRPr lang="en-US" sz="1400" dirty="0"/>
          </a:p>
          <a:p>
            <a:pPr>
              <a:lnSpc>
                <a:spcPct val="120000"/>
              </a:lnSpc>
              <a:spcAft>
                <a:spcPts val="500"/>
              </a:spcAft>
            </a:pPr>
            <a:r>
              <a:rPr lang="en-US" sz="14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Shipping address management with multiple saved addresses</a:t>
            </a:r>
            <a:endParaRPr lang="en-US" sz="1400" dirty="0"/>
          </a:p>
          <a:p>
            <a:pPr>
              <a:lnSpc>
                <a:spcPct val="120000"/>
              </a:lnSpc>
              <a:spcAft>
                <a:spcPts val="500"/>
              </a:spcAft>
            </a:pPr>
            <a:r>
              <a:rPr lang="en-US" sz="14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Privacy controls: profile visibility, search indexing, data sharing</a:t>
            </a:r>
            <a:endParaRPr lang="en-US" sz="1400" dirty="0"/>
          </a:p>
          <a:p>
            <a:pPr>
              <a:lnSpc>
                <a:spcPct val="120000"/>
              </a:lnSpc>
              <a:spcAft>
                <a:spcPts val="500"/>
              </a:spcAft>
            </a:pPr>
            <a:r>
              <a:rPr lang="en-US" sz="14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management: view and revoke active sessions</a:t>
            </a:r>
            <a:endParaRPr lang="en-US" sz="1400" dirty="0"/>
          </a:p>
          <a:p>
            <a:pPr>
              <a:lnSpc>
                <a:spcPct val="120000"/>
              </a:lnSpc>
              <a:spcAft>
                <a:spcPts val="500"/>
              </a:spcAft>
            </a:pPr>
            <a:r>
              <a:rPr lang="en-US" sz="14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GDPR data export and full account deletion</a:t>
            </a:r>
            <a:endParaRPr 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 Innovations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1143000"/>
            <a:ext cx="2286000" cy="36576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463040"/>
            <a:ext cx="5120640" cy="4846320"/>
          </a:xfrm>
          <a:prstGeom prst="rect">
            <a:avLst>
              <a:gd name="adj" fmla="val 1887"/>
            </a:avLst>
          </a:prstGeom>
          <a:solidFill>
            <a:srgbClr val="18181B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16002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Card Flip Animations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5840" y="2148840"/>
            <a:ext cx="457200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15000"/>
              </a:lnSpc>
              <a:spcAft>
                <a:spcPts val="400"/>
              </a:spcAft>
            </a:pPr>
            <a:r>
              <a:rPr lang="en-US" sz="15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3D CSS card flip for record previews</a:t>
            </a:r>
            <a:endParaRPr lang="en-US" sz="1500" dirty="0"/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lang="en-US" sz="15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Front: album art, artist, price</a:t>
            </a:r>
            <a:endParaRPr lang="en-US" sz="1500" dirty="0"/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lang="en-US" sz="15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Back: condition, pressing details, quick actions</a:t>
            </a:r>
            <a:endParaRPr lang="en-US" sz="1500" dirty="0"/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lang="en-US" sz="15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Smooth 0.6s transform with perspective</a:t>
            </a:r>
            <a:endParaRPr lang="en-US" sz="1500" dirty="0"/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lang="en-US" sz="15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Touch-friendly tap-to-flip on mobile</a:t>
            </a:r>
            <a:endParaRPr lang="en-US" sz="1500" dirty="0"/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lang="en-US" sz="15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Used across Explore, Collection, and Wishlist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309360" y="1463040"/>
            <a:ext cx="5120640" cy="4846320"/>
          </a:xfrm>
          <a:prstGeom prst="rect">
            <a:avLst>
              <a:gd name="adj" fmla="val 1887"/>
            </a:avLst>
          </a:prstGeom>
          <a:solidFill>
            <a:srgbClr val="18181B"/>
          </a:solidFill>
          <a:ln/>
        </p:spPr>
      </p:sp>
      <p:sp>
        <p:nvSpPr>
          <p:cNvPr id="9" name="Text 7"/>
          <p:cNvSpPr/>
          <p:nvPr/>
        </p:nvSpPr>
        <p:spPr>
          <a:xfrm>
            <a:off x="6583680" y="16002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Drawer Modals &amp; Virtual Scrolling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583680" y="2148840"/>
            <a:ext cx="457200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15000"/>
              </a:lnSpc>
              <a:spcAft>
                <a:spcPts val="400"/>
              </a:spcAft>
            </a:pPr>
            <a:r>
              <a:rPr lang="en-US" sz="15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drawer modals for mobile-first UX</a:t>
            </a:r>
            <a:endParaRPr lang="en-US" sz="1500" dirty="0"/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lang="en-US" sz="15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Swipe-down to dismiss gesture support</a:t>
            </a:r>
            <a:endParaRPr lang="en-US" sz="1500" dirty="0"/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lang="en-US" sz="15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Snap points: collapsed, half, full screen</a:t>
            </a:r>
            <a:endParaRPr lang="en-US" sz="1500" dirty="0"/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lang="en-US" sz="15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Virtual scrolling for 1,000+ item lists</a:t>
            </a:r>
            <a:endParaRPr lang="en-US" sz="1500" dirty="0"/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lang="en-US" sz="15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renders visible rows for 60fps performance</a:t>
            </a:r>
            <a:endParaRPr lang="en-US" sz="1500" dirty="0"/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lang="en-US" sz="15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Lazy image loading with placeholder shimmer</a:t>
            </a:r>
            <a:endParaRPr lang="en-US" sz="15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 Optimizations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1143000"/>
            <a:ext cx="2286000" cy="36576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463040"/>
            <a:ext cx="105156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20000"/>
              </a:lnSpc>
              <a:spcAft>
                <a:spcPts val="500"/>
              </a:spcAft>
            </a:pPr>
            <a:r>
              <a:rPr lang="en-US" sz="14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Virtual scrolling renders only visible items in long lists</a:t>
            </a:r>
            <a:endParaRPr lang="en-US" sz="1400" dirty="0"/>
          </a:p>
          <a:p>
            <a:pPr>
              <a:lnSpc>
                <a:spcPct val="120000"/>
              </a:lnSpc>
              <a:spcAft>
                <a:spcPts val="500"/>
              </a:spcAft>
            </a:pPr>
            <a:r>
              <a:rPr lang="en-US" sz="14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React.lazy and Suspense for code-split screen loading</a:t>
            </a:r>
            <a:endParaRPr lang="en-US" sz="1400" dirty="0"/>
          </a:p>
          <a:p>
            <a:pPr>
              <a:lnSpc>
                <a:spcPct val="120000"/>
              </a:lnSpc>
              <a:spcAft>
                <a:spcPts val="500"/>
              </a:spcAft>
            </a:pPr>
            <a:r>
              <a:rPr lang="en-US" sz="14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Lazy image loading with IntersectionObserver</a:t>
            </a:r>
            <a:endParaRPr lang="en-US" sz="1400" dirty="0"/>
          </a:p>
          <a:p>
            <a:pPr>
              <a:lnSpc>
                <a:spcPct val="120000"/>
              </a:lnSpc>
              <a:spcAft>
                <a:spcPts val="500"/>
              </a:spcAft>
            </a:pPr>
            <a:r>
              <a:rPr lang="en-US" sz="14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Debounced search inputs to reduce API calls</a:t>
            </a:r>
            <a:endParaRPr lang="en-US" sz="1400" dirty="0"/>
          </a:p>
          <a:p>
            <a:pPr>
              <a:lnSpc>
                <a:spcPct val="120000"/>
              </a:lnSpc>
              <a:spcAft>
                <a:spcPts val="500"/>
              </a:spcAft>
            </a:pPr>
            <a:r>
              <a:rPr lang="en-US" sz="14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Memoized components with React.memo and useMemo</a:t>
            </a:r>
            <a:endParaRPr lang="en-US" sz="1400" dirty="0"/>
          </a:p>
          <a:p>
            <a:pPr>
              <a:lnSpc>
                <a:spcPct val="120000"/>
              </a:lnSpc>
              <a:spcAft>
                <a:spcPts val="500"/>
              </a:spcAft>
            </a:pPr>
            <a:r>
              <a:rPr lang="en-US" sz="14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Gzip compression on all API responses</a:t>
            </a:r>
            <a:endParaRPr lang="en-US" sz="1400" dirty="0"/>
          </a:p>
          <a:p>
            <a:pPr>
              <a:lnSpc>
                <a:spcPct val="120000"/>
              </a:lnSpc>
              <a:spcAft>
                <a:spcPts val="500"/>
              </a:spcAft>
            </a:pPr>
            <a:r>
              <a:rPr lang="en-US" sz="14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 worker caching for offline-capable PWA</a:t>
            </a:r>
            <a:endParaRPr lang="en-US" sz="1400" dirty="0"/>
          </a:p>
          <a:p>
            <a:pPr>
              <a:lnSpc>
                <a:spcPct val="120000"/>
              </a:lnSpc>
              <a:spcAft>
                <a:spcPts val="500"/>
              </a:spcAft>
            </a:pPr>
            <a:r>
              <a:rPr lang="en-US" sz="14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Optimistic UI updates for likes, saves, and follows</a:t>
            </a:r>
            <a:endParaRPr lang="en-US" sz="1400" dirty="0"/>
          </a:p>
          <a:p>
            <a:pPr>
              <a:lnSpc>
                <a:spcPct val="120000"/>
              </a:lnSpc>
              <a:spcAft>
                <a:spcPts val="500"/>
              </a:spcAft>
            </a:pPr>
            <a:r>
              <a:rPr lang="en-US" sz="14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Batch API endpoint for combining multiple requests</a:t>
            </a:r>
            <a:endParaRPr 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Vinyl Buddy?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1143000"/>
            <a:ext cx="2286000" cy="36576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463040"/>
            <a:ext cx="105156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20000"/>
              </a:lnSpc>
              <a:spcAft>
                <a:spcPts val="500"/>
              </a:spcAft>
            </a:pPr>
            <a:r>
              <a:rPr lang="en-US" sz="14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hardware companion device for your turntable</a:t>
            </a:r>
            <a:endParaRPr lang="en-US" sz="1400" dirty="0"/>
          </a:p>
          <a:p>
            <a:pPr>
              <a:lnSpc>
                <a:spcPct val="120000"/>
              </a:lnSpc>
              <a:spcAft>
                <a:spcPts val="500"/>
              </a:spcAft>
            </a:pPr>
            <a:r>
              <a:rPr lang="en-US" sz="14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Automatically identifies records as they play</a:t>
            </a:r>
            <a:endParaRPr lang="en-US" sz="1400" dirty="0"/>
          </a:p>
          <a:p>
            <a:pPr>
              <a:lnSpc>
                <a:spcPct val="120000"/>
              </a:lnSpc>
              <a:spcAft>
                <a:spcPts val="500"/>
              </a:spcAft>
            </a:pPr>
            <a:r>
              <a:rPr lang="en-US" sz="14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Audio fingerprinting powered by AudD recognition API</a:t>
            </a:r>
            <a:endParaRPr lang="en-US" sz="1400" dirty="0"/>
          </a:p>
          <a:p>
            <a:pPr>
              <a:lnSpc>
                <a:spcPct val="120000"/>
              </a:lnSpc>
              <a:spcAft>
                <a:spcPts val="500"/>
              </a:spcAft>
            </a:pPr>
            <a:r>
              <a:rPr lang="en-US" sz="14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Logs every listening session to your GrooveStack profile</a:t>
            </a:r>
            <a:endParaRPr lang="en-US" sz="1400" dirty="0"/>
          </a:p>
          <a:p>
            <a:pPr>
              <a:lnSpc>
                <a:spcPct val="120000"/>
              </a:lnSpc>
              <a:spcAft>
                <a:spcPts val="500"/>
              </a:spcAft>
            </a:pPr>
            <a:r>
              <a:rPr lang="en-US" sz="14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Tracks genre stats, listening streaks, and mood patterns</a:t>
            </a:r>
            <a:endParaRPr lang="en-US" sz="1400" dirty="0"/>
          </a:p>
          <a:p>
            <a:pPr>
              <a:lnSpc>
                <a:spcPct val="120000"/>
              </a:lnSpc>
              <a:spcAft>
                <a:spcPts val="500"/>
              </a:spcAft>
            </a:pPr>
            <a:r>
              <a:rPr lang="en-US" sz="14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Connects via WiFi and BLE for real-time sync</a:t>
            </a:r>
            <a:endParaRPr lang="en-US" sz="1400" dirty="0"/>
          </a:p>
          <a:p>
            <a:pPr>
              <a:lnSpc>
                <a:spcPct val="120000"/>
              </a:lnSpc>
              <a:spcAft>
                <a:spcPts val="500"/>
              </a:spcAft>
            </a:pPr>
            <a:r>
              <a:rPr lang="en-US" sz="14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OLED display shows track info, connection status, and device code</a:t>
            </a:r>
            <a:endParaRPr lang="en-US" sz="1400" dirty="0"/>
          </a:p>
          <a:p>
            <a:pPr>
              <a:lnSpc>
                <a:spcPct val="120000"/>
              </a:lnSpc>
              <a:spcAft>
                <a:spcPts val="500"/>
              </a:spcAft>
            </a:pPr>
            <a:r>
              <a:rPr lang="en-US" sz="14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SD card slot for offline session caching</a:t>
            </a:r>
            <a:endParaRPr lang="en-US" sz="1400" dirty="0"/>
          </a:p>
          <a:p>
            <a:pPr>
              <a:lnSpc>
                <a:spcPct val="120000"/>
              </a:lnSpc>
              <a:spcAft>
                <a:spcPts val="500"/>
              </a:spcAft>
            </a:pPr>
            <a:r>
              <a:rPr lang="en-US" sz="14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Gesture sensor for hands-free control</a:t>
            </a:r>
            <a:endParaRPr lang="en-US" sz="14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Vinyl Buddy Features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1143000"/>
            <a:ext cx="2286000" cy="36576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463040"/>
            <a:ext cx="5120640" cy="4846320"/>
          </a:xfrm>
          <a:prstGeom prst="rect">
            <a:avLst>
              <a:gd name="adj" fmla="val 1887"/>
            </a:avLst>
          </a:prstGeom>
          <a:solidFill>
            <a:srgbClr val="18181B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16002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Identification &amp; Tracking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5840" y="2148840"/>
            <a:ext cx="457200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15000"/>
              </a:lnSpc>
              <a:spcAft>
                <a:spcPts val="400"/>
              </a:spcAft>
            </a:pPr>
            <a:r>
              <a:rPr lang="en-US" sz="15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audio fingerprinting via AudD</a:t>
            </a:r>
            <a:endParaRPr lang="en-US" sz="1500" dirty="0"/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lang="en-US" sz="15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Listening history with timestamps</a:t>
            </a:r>
            <a:endParaRPr lang="en-US" sz="1500" dirty="0"/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lang="en-US" sz="15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Genre classification per session</a:t>
            </a:r>
            <a:endParaRPr lang="en-US" sz="1500" dirty="0"/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lang="en-US" sz="15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Mood detection from listening patterns</a:t>
            </a:r>
            <a:endParaRPr lang="en-US" sz="1500" dirty="0"/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lang="en-US" sz="15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Listening streaks and goals</a:t>
            </a:r>
            <a:endParaRPr lang="en-US" sz="1500" dirty="0"/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lang="en-US" sz="15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Achievement badges (First Spin, Century Club, etc.)</a:t>
            </a:r>
            <a:endParaRPr lang="en-US" sz="1500" dirty="0"/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lang="en-US" sz="15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Side A/B and RPM (33/45/78) tracking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309360" y="1463040"/>
            <a:ext cx="5120640" cy="4846320"/>
          </a:xfrm>
          <a:prstGeom prst="rect">
            <a:avLst>
              <a:gd name="adj" fmla="val 1887"/>
            </a:avLst>
          </a:prstGeom>
          <a:solidFill>
            <a:srgbClr val="18181B"/>
          </a:solidFill>
          <a:ln/>
        </p:spPr>
      </p:sp>
      <p:sp>
        <p:nvSpPr>
          <p:cNvPr id="9" name="Text 7"/>
          <p:cNvSpPr/>
          <p:nvPr/>
        </p:nvSpPr>
        <p:spPr>
          <a:xfrm>
            <a:off x="6583680" y="16002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Stats &amp; Insights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583680" y="2148840"/>
            <a:ext cx="457200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15000"/>
              </a:lnSpc>
              <a:spcAft>
                <a:spcPts val="400"/>
              </a:spcAft>
            </a:pPr>
            <a:r>
              <a:rPr lang="en-US" sz="15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played artists and albums</a:t>
            </a:r>
            <a:endParaRPr lang="en-US" sz="1500" dirty="0"/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lang="en-US" sz="15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Genre evolution chart over time</a:t>
            </a:r>
            <a:endParaRPr lang="en-US" sz="1500" dirty="0"/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lang="en-US" sz="15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Peak listening hours heatmap</a:t>
            </a:r>
            <a:endParaRPr lang="en-US" sz="1500" dirty="0"/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lang="en-US" sz="15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Personalized recommendations</a:t>
            </a:r>
            <a:endParaRPr lang="en-US" sz="1500" dirty="0"/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lang="en-US" sz="15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Weekly and monthly listening reports</a:t>
            </a:r>
            <a:endParaRPr lang="en-US" sz="1500" dirty="0"/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lang="en-US" sz="15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Taste comparison with friends</a:t>
            </a:r>
            <a:endParaRPr lang="en-US" sz="1500" dirty="0"/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lang="en-US" sz="15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Now Playing display with equalizer visualization</a:t>
            </a:r>
            <a:endParaRPr lang="en-US" sz="15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Vinyl Buddy — Device Management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1143000"/>
            <a:ext cx="2286000" cy="36576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463040"/>
            <a:ext cx="105156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20000"/>
              </a:lnSpc>
              <a:spcAft>
                <a:spcPts val="500"/>
              </a:spcAft>
            </a:pPr>
            <a:r>
              <a:rPr lang="en-US" sz="16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Device pairing via 12-character activation code on OLED</a:t>
            </a:r>
            <a:endParaRPr lang="en-US" sz="1600" dirty="0"/>
          </a:p>
          <a:p>
            <a:pPr>
              <a:lnSpc>
                <a:spcPct val="120000"/>
              </a:lnSpc>
              <a:spcAft>
                <a:spcPts val="500"/>
              </a:spcAft>
            </a:pPr>
            <a:r>
              <a:rPr lang="en-US" sz="16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device health monitoring and diagnostics</a:t>
            </a:r>
            <a:endParaRPr lang="en-US" sz="1600" dirty="0"/>
          </a:p>
          <a:p>
            <a:pPr>
              <a:lnSpc>
                <a:spcPct val="120000"/>
              </a:lnSpc>
              <a:spcAft>
                <a:spcPts val="500"/>
              </a:spcAft>
            </a:pPr>
            <a:r>
              <a:rPr lang="en-US" sz="16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Firmware version checking and OTA update support</a:t>
            </a:r>
            <a:endParaRPr lang="en-US" sz="1600" dirty="0"/>
          </a:p>
          <a:p>
            <a:pPr>
              <a:lnSpc>
                <a:spcPct val="120000"/>
              </a:lnSpc>
              <a:spcAft>
                <a:spcPts val="500"/>
              </a:spcAft>
            </a:pPr>
            <a:r>
              <a:rPr lang="en-US" sz="16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Audio calibration wizard for optimal identification</a:t>
            </a:r>
            <a:endParaRPr lang="en-US" sz="1600" dirty="0"/>
          </a:p>
          <a:p>
            <a:pPr>
              <a:lnSpc>
                <a:spcPct val="120000"/>
              </a:lnSpc>
              <a:spcAft>
                <a:spcPts val="500"/>
              </a:spcAft>
            </a:pPr>
            <a:r>
              <a:rPr lang="en-US" sz="16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Battery level monitoring and low-power alerts</a:t>
            </a:r>
            <a:endParaRPr lang="en-US" sz="1600" dirty="0"/>
          </a:p>
          <a:p>
            <a:pPr>
              <a:lnSpc>
                <a:spcPct val="120000"/>
              </a:lnSpc>
              <a:spcAft>
                <a:spcPts val="500"/>
              </a:spcAft>
            </a:pPr>
            <a:r>
              <a:rPr lang="en-US" sz="16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Multi-device support: pair up to 4 Vinyl Buddies</a:t>
            </a:r>
            <a:endParaRPr lang="en-US" sz="1600" dirty="0"/>
          </a:p>
          <a:p>
            <a:pPr>
              <a:lnSpc>
                <a:spcPct val="120000"/>
              </a:lnSpc>
              <a:spcAft>
                <a:spcPts val="500"/>
              </a:spcAft>
            </a:pPr>
            <a:r>
              <a:rPr lang="en-US" sz="16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Device naming and location tagging</a:t>
            </a:r>
            <a:endParaRPr lang="en-US" sz="1600" dirty="0"/>
          </a:p>
          <a:p>
            <a:pPr>
              <a:lnSpc>
                <a:spcPct val="120000"/>
              </a:lnSpc>
              <a:spcAft>
                <a:spcPts val="500"/>
              </a:spcAft>
            </a:pPr>
            <a:r>
              <a:rPr lang="en-US" sz="16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Heartbeat monitoring every 30 seconds</a:t>
            </a:r>
            <a:endParaRPr lang="en-US" sz="16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Vinyl Buddy Hardware — Complete Specs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1143000"/>
            <a:ext cx="2286000" cy="36576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554480"/>
            <a:ext cx="4937760" cy="1051560"/>
          </a:xfrm>
          <a:prstGeom prst="rect">
            <a:avLst>
              <a:gd name="adj" fmla="val 8696"/>
            </a:avLst>
          </a:prstGeom>
          <a:solidFill>
            <a:srgbClr val="18181B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1645920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Microcontroller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057400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ESP32-DevKitC V4 (Dual-core @ 240 MHz)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217920" y="1554480"/>
            <a:ext cx="4937760" cy="1051560"/>
          </a:xfrm>
          <a:prstGeom prst="rect">
            <a:avLst>
              <a:gd name="adj" fmla="val 8696"/>
            </a:avLst>
          </a:prstGeom>
          <a:solidFill>
            <a:srgbClr val="18181B"/>
          </a:solidFill>
          <a:ln/>
        </p:spPr>
      </p:sp>
      <p:sp>
        <p:nvSpPr>
          <p:cNvPr id="9" name="Text 7"/>
          <p:cNvSpPr/>
          <p:nvPr/>
        </p:nvSpPr>
        <p:spPr>
          <a:xfrm>
            <a:off x="6492240" y="1645920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Connectivity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92240" y="2057400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WiFi 802.11 b/g/n + BLE 4.2 + ESP-NOW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731520" y="2834640"/>
            <a:ext cx="4937760" cy="1051560"/>
          </a:xfrm>
          <a:prstGeom prst="rect">
            <a:avLst>
              <a:gd name="adj" fmla="val 8696"/>
            </a:avLst>
          </a:prstGeom>
          <a:solidFill>
            <a:srgbClr val="18181B"/>
          </a:solidFill>
          <a:ln/>
        </p:spPr>
      </p:sp>
      <p:sp>
        <p:nvSpPr>
          <p:cNvPr id="12" name="Text 10"/>
          <p:cNvSpPr/>
          <p:nvPr/>
        </p:nvSpPr>
        <p:spPr>
          <a:xfrm>
            <a:off x="1005840" y="2926080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Audio Input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05840" y="3337560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I2S MEMS Microphone (INMP441)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6217920" y="2834640"/>
            <a:ext cx="4937760" cy="1051560"/>
          </a:xfrm>
          <a:prstGeom prst="rect">
            <a:avLst>
              <a:gd name="adj" fmla="val 8696"/>
            </a:avLst>
          </a:prstGeom>
          <a:solidFill>
            <a:srgbClr val="18181B"/>
          </a:solidFill>
          <a:ln/>
        </p:spPr>
      </p:sp>
      <p:sp>
        <p:nvSpPr>
          <p:cNvPr id="15" name="Text 13"/>
          <p:cNvSpPr/>
          <p:nvPr/>
        </p:nvSpPr>
        <p:spPr>
          <a:xfrm>
            <a:off x="6492240" y="2926080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Display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92240" y="3337560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SSD1306 OLED 128x64 (I2C)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731520" y="4114800"/>
            <a:ext cx="4937760" cy="1051560"/>
          </a:xfrm>
          <a:prstGeom prst="rect">
            <a:avLst>
              <a:gd name="adj" fmla="val 8696"/>
            </a:avLst>
          </a:prstGeom>
          <a:solidFill>
            <a:srgbClr val="18181B"/>
          </a:solidFill>
          <a:ln/>
        </p:spPr>
      </p:sp>
      <p:sp>
        <p:nvSpPr>
          <p:cNvPr id="18" name="Text 16"/>
          <p:cNvSpPr/>
          <p:nvPr/>
        </p:nvSpPr>
        <p:spPr>
          <a:xfrm>
            <a:off x="1005840" y="4206240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Storage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05840" y="4617720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SD Card slot for offline session caching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6217920" y="4114800"/>
            <a:ext cx="4937760" cy="1051560"/>
          </a:xfrm>
          <a:prstGeom prst="rect">
            <a:avLst>
              <a:gd name="adj" fmla="val 8696"/>
            </a:avLst>
          </a:prstGeom>
          <a:solidFill>
            <a:srgbClr val="18181B"/>
          </a:solidFill>
          <a:ln/>
        </p:spPr>
      </p:sp>
      <p:sp>
        <p:nvSpPr>
          <p:cNvPr id="21" name="Text 19"/>
          <p:cNvSpPr/>
          <p:nvPr/>
        </p:nvSpPr>
        <p:spPr>
          <a:xfrm>
            <a:off x="6492240" y="4206240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Sensors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492240" y="4617720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APDS-9960 gesture sensor (wave control)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731520" y="5394960"/>
            <a:ext cx="4937760" cy="1051560"/>
          </a:xfrm>
          <a:prstGeom prst="rect">
            <a:avLst>
              <a:gd name="adj" fmla="val 8696"/>
            </a:avLst>
          </a:prstGeom>
          <a:solidFill>
            <a:srgbClr val="18181B"/>
          </a:solidFill>
          <a:ln/>
        </p:spPr>
      </p:sp>
      <p:sp>
        <p:nvSpPr>
          <p:cNvPr id="24" name="Text 22"/>
          <p:cNvSpPr/>
          <p:nvPr/>
        </p:nvSpPr>
        <p:spPr>
          <a:xfrm>
            <a:off x="1005840" y="5486400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Audio Processing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005840" y="5897880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 noise cancellation + auto-gain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6217920" y="5394960"/>
            <a:ext cx="4937760" cy="1051560"/>
          </a:xfrm>
          <a:prstGeom prst="rect">
            <a:avLst>
              <a:gd name="adj" fmla="val 8696"/>
            </a:avLst>
          </a:prstGeom>
          <a:solidFill>
            <a:srgbClr val="18181B"/>
          </a:solidFill>
          <a:ln/>
        </p:spPr>
      </p:sp>
      <p:sp>
        <p:nvSpPr>
          <p:cNvPr id="27" name="Text 25"/>
          <p:cNvSpPr/>
          <p:nvPr/>
        </p:nvSpPr>
        <p:spPr>
          <a:xfrm>
            <a:off x="6492240" y="5486400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492240" y="5897880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USB-C 5V / Li-Po battery option</a:t>
            </a:r>
            <a:endParaRPr lang="en-US" sz="1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ESP-NOW Mesh Networking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1143000"/>
            <a:ext cx="2286000" cy="36576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463040"/>
            <a:ext cx="105156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20000"/>
              </a:lnSpc>
              <a:spcAft>
                <a:spcPts val="500"/>
              </a:spcAft>
            </a:pPr>
            <a:r>
              <a:rPr lang="en-US" sz="16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Peer-to-peer communication between Vinyl Buddy devices</a:t>
            </a:r>
            <a:endParaRPr lang="en-US" sz="1600" dirty="0"/>
          </a:p>
          <a:p>
            <a:pPr>
              <a:lnSpc>
                <a:spcPct val="120000"/>
              </a:lnSpc>
              <a:spcAft>
                <a:spcPts val="500"/>
              </a:spcAft>
            </a:pPr>
            <a:r>
              <a:rPr lang="en-US" sz="16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WiFi router required for device-to-device data transfer</a:t>
            </a:r>
            <a:endParaRPr lang="en-US" sz="1600" dirty="0"/>
          </a:p>
          <a:p>
            <a:pPr>
              <a:lnSpc>
                <a:spcPct val="120000"/>
              </a:lnSpc>
              <a:spcAft>
                <a:spcPts val="500"/>
              </a:spcAft>
            </a:pPr>
            <a:r>
              <a:rPr lang="en-US" sz="16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Multi-room listening session synchronization</a:t>
            </a:r>
            <a:endParaRPr lang="en-US" sz="1600" dirty="0"/>
          </a:p>
          <a:p>
            <a:pPr>
              <a:lnSpc>
                <a:spcPct val="120000"/>
              </a:lnSpc>
              <a:spcAft>
                <a:spcPts val="500"/>
              </a:spcAft>
            </a:pPr>
            <a:r>
              <a:rPr lang="en-US" sz="16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Automatic peer discovery within range</a:t>
            </a:r>
            <a:endParaRPr lang="en-US" sz="1600" dirty="0"/>
          </a:p>
          <a:p>
            <a:pPr>
              <a:lnSpc>
                <a:spcPct val="120000"/>
              </a:lnSpc>
              <a:spcAft>
                <a:spcPts val="500"/>
              </a:spcAft>
            </a:pPr>
            <a:r>
              <a:rPr lang="en-US" sz="16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Low-latency data exchange (&lt; 10ms)</a:t>
            </a:r>
            <a:endParaRPr lang="en-US" sz="1600" dirty="0"/>
          </a:p>
          <a:p>
            <a:pPr>
              <a:lnSpc>
                <a:spcPct val="120000"/>
              </a:lnSpc>
              <a:spcAft>
                <a:spcPts val="500"/>
              </a:spcAft>
            </a:pPr>
            <a:r>
              <a:rPr lang="en-US" sz="16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Encrypted payload transfer between paired devices</a:t>
            </a:r>
            <a:endParaRPr lang="en-US" sz="1600" dirty="0"/>
          </a:p>
          <a:p>
            <a:pPr>
              <a:lnSpc>
                <a:spcPct val="120000"/>
              </a:lnSpc>
              <a:spcAft>
                <a:spcPts val="500"/>
              </a:spcAft>
            </a:pPr>
            <a:r>
              <a:rPr lang="en-US" sz="16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Mesh topology allows relay through intermediate nodes</a:t>
            </a:r>
            <a:endParaRPr lang="en-US" sz="1600" dirty="0"/>
          </a:p>
          <a:p>
            <a:pPr>
              <a:lnSpc>
                <a:spcPct val="120000"/>
              </a:lnSpc>
              <a:spcAft>
                <a:spcPts val="500"/>
              </a:spcAft>
            </a:pPr>
            <a:r>
              <a:rPr lang="en-US" sz="16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Enables "listen along" feature across rooms</a:t>
            </a:r>
            <a:endParaRPr lang="en-US" sz="16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Vinyl Buddy Firmware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1143000"/>
            <a:ext cx="2286000" cy="36576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463040"/>
            <a:ext cx="5120640" cy="4846320"/>
          </a:xfrm>
          <a:prstGeom prst="rect">
            <a:avLst>
              <a:gd name="adj" fmla="val 1887"/>
            </a:avLst>
          </a:prstGeom>
          <a:solidFill>
            <a:srgbClr val="18181B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16002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Firmware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5840" y="2148840"/>
            <a:ext cx="457200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15000"/>
              </a:lnSpc>
              <a:spcAft>
                <a:spcPts val="400"/>
              </a:spcAft>
            </a:pPr>
            <a:r>
              <a:rPr lang="en-US" sz="15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FreeRTOS task-based architecture</a:t>
            </a:r>
            <a:endParaRPr lang="en-US" sz="1500" dirty="0"/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lang="en-US" sz="15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I2S audio capture at 16 kHz / 16-bit</a:t>
            </a:r>
            <a:endParaRPr lang="en-US" sz="1500" dirty="0"/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lang="en-US" sz="15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WiFi auto-reconnect with exponential backoff</a:t>
            </a:r>
            <a:endParaRPr lang="en-US" sz="1500" dirty="0"/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lang="en-US" sz="15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BLE pairing and configuration mode</a:t>
            </a:r>
            <a:endParaRPr lang="en-US" sz="1500" dirty="0"/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lang="en-US" sz="15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OTA firmware update support</a:t>
            </a:r>
            <a:endParaRPr lang="en-US" sz="1500" dirty="0"/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lang="en-US" sz="15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Watchdog timer for crash recovery</a:t>
            </a:r>
            <a:endParaRPr lang="en-US" sz="1500" dirty="0"/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lang="en-US" sz="15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 sleep mode for power saving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309360" y="1463040"/>
            <a:ext cx="5120640" cy="4846320"/>
          </a:xfrm>
          <a:prstGeom prst="rect">
            <a:avLst>
              <a:gd name="adj" fmla="val 1887"/>
            </a:avLst>
          </a:prstGeom>
          <a:solidFill>
            <a:srgbClr val="18181B"/>
          </a:solidFill>
          <a:ln/>
        </p:spPr>
      </p:sp>
      <p:sp>
        <p:nvSpPr>
          <p:cNvPr id="9" name="Text 7"/>
          <p:cNvSpPr/>
          <p:nvPr/>
        </p:nvSpPr>
        <p:spPr>
          <a:xfrm>
            <a:off x="6583680" y="16002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Features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583680" y="2148840"/>
            <a:ext cx="457200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15000"/>
              </a:lnSpc>
              <a:spcAft>
                <a:spcPts val="400"/>
              </a:spcAft>
            </a:pPr>
            <a:r>
              <a:rPr lang="en-US" sz="15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 noise cancellation for cleaner audio</a:t>
            </a:r>
            <a:endParaRPr lang="en-US" sz="1500" dirty="0"/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lang="en-US" sz="15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Auto-gain control for varying room volumes</a:t>
            </a:r>
            <a:endParaRPr lang="en-US" sz="1500" dirty="0"/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lang="en-US" sz="15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SD card logging for offline sessions</a:t>
            </a:r>
            <a:endParaRPr lang="en-US" sz="1500" dirty="0"/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lang="en-US" sz="15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OLED display: track info, status, animations</a:t>
            </a:r>
            <a:endParaRPr lang="en-US" sz="1500" dirty="0"/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lang="en-US" sz="15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APDS-9960 gesture: wave to skip, swipe to control</a:t>
            </a:r>
            <a:endParaRPr lang="en-US" sz="1500" dirty="0"/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lang="en-US" sz="15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ESP-NOW mesh for multi-device sync</a:t>
            </a:r>
            <a:endParaRPr lang="en-US" sz="1500" dirty="0"/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lang="en-US" sz="15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LED status indicators (WiFi, BLE, listening)</a:t>
            </a:r>
            <a:endParaRPr lang="en-US" sz="15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&amp; Privacy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1143000"/>
            <a:ext cx="2286000" cy="36576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463040"/>
            <a:ext cx="105156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20000"/>
              </a:lnSpc>
              <a:spcAft>
                <a:spcPts val="500"/>
              </a:spcAft>
            </a:pPr>
            <a:r>
              <a:rPr lang="en-US" sz="14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JWT authentication with bcrypt password hashing</a:t>
            </a:r>
            <a:endParaRPr lang="en-US" sz="1400" dirty="0"/>
          </a:p>
          <a:p>
            <a:pPr>
              <a:lnSpc>
                <a:spcPct val="120000"/>
              </a:lnSpc>
              <a:spcAft>
                <a:spcPts val="500"/>
              </a:spcAft>
            </a:pPr>
            <a:r>
              <a:rPr lang="en-US" sz="14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TOTP-based two-factor authentication (2FA)</a:t>
            </a:r>
            <a:endParaRPr lang="en-US" sz="1400" dirty="0"/>
          </a:p>
          <a:p>
            <a:pPr>
              <a:lnSpc>
                <a:spcPct val="120000"/>
              </a:lnSpc>
              <a:spcAft>
                <a:spcPts val="500"/>
              </a:spcAft>
            </a:pPr>
            <a:r>
              <a:rPr lang="en-US" sz="14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 limiting: 100 req/min general, 10 req/min auth</a:t>
            </a:r>
            <a:endParaRPr lang="en-US" sz="1400" dirty="0"/>
          </a:p>
          <a:p>
            <a:pPr>
              <a:lnSpc>
                <a:spcPct val="120000"/>
              </a:lnSpc>
              <a:spcAft>
                <a:spcPts val="500"/>
              </a:spcAft>
            </a:pPr>
            <a:r>
              <a:rPr lang="en-US" sz="14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CSRF token protection on state-changing requests</a:t>
            </a:r>
            <a:endParaRPr lang="en-US" sz="1400" dirty="0"/>
          </a:p>
          <a:p>
            <a:pPr>
              <a:lnSpc>
                <a:spcPct val="120000"/>
              </a:lnSpc>
              <a:spcAft>
                <a:spcPts val="500"/>
              </a:spcAft>
            </a:pPr>
            <a:r>
              <a:rPr lang="en-US" sz="14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CORS configuration with allowed origin management</a:t>
            </a:r>
            <a:endParaRPr lang="en-US" sz="1400" dirty="0"/>
          </a:p>
          <a:p>
            <a:pPr>
              <a:lnSpc>
                <a:spcPct val="120000"/>
              </a:lnSpc>
              <a:spcAft>
                <a:spcPts val="500"/>
              </a:spcAft>
            </a:pPr>
            <a:r>
              <a:rPr lang="en-US" sz="14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GDPR-compliant data export and full account deletion</a:t>
            </a:r>
            <a:endParaRPr lang="en-US" sz="1400" dirty="0"/>
          </a:p>
          <a:p>
            <a:pPr>
              <a:lnSpc>
                <a:spcPct val="120000"/>
              </a:lnSpc>
              <a:spcAft>
                <a:spcPts val="500"/>
              </a:spcAft>
            </a:pPr>
            <a:r>
              <a:rPr lang="en-US" sz="14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Password reset flow with secure token expiry</a:t>
            </a:r>
            <a:endParaRPr lang="en-US" sz="1400" dirty="0"/>
          </a:p>
          <a:p>
            <a:pPr>
              <a:lnSpc>
                <a:spcPct val="120000"/>
              </a:lnSpc>
              <a:spcAft>
                <a:spcPts val="500"/>
              </a:spcAft>
            </a:pPr>
            <a:r>
              <a:rPr lang="en-US" sz="14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 reporting and moderation queue</a:t>
            </a:r>
            <a:endParaRPr lang="en-US" sz="1400" dirty="0"/>
          </a:p>
          <a:p>
            <a:pPr>
              <a:lnSpc>
                <a:spcPct val="120000"/>
              </a:lnSpc>
              <a:spcAft>
                <a:spcPts val="500"/>
              </a:spcAft>
            </a:pPr>
            <a:r>
              <a:rPr lang="en-US" sz="14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 tracing and audit logging with unique request IDs</a:t>
            </a:r>
            <a:endParaRPr lang="en-US" sz="1400" dirty="0"/>
          </a:p>
          <a:p>
            <a:pPr>
              <a:lnSpc>
                <a:spcPct val="120000"/>
              </a:lnSpc>
              <a:spcAft>
                <a:spcPts val="500"/>
              </a:spcAft>
            </a:pPr>
            <a:r>
              <a:rPr lang="en-US" sz="14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 validation and SQL injection prevention</a:t>
            </a:r>
            <a:endParaRPr lang="en-US" sz="14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Accessibility Features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1143000"/>
            <a:ext cx="2286000" cy="36576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463040"/>
            <a:ext cx="105156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20000"/>
              </a:lnSpc>
              <a:spcAft>
                <a:spcPts val="500"/>
              </a:spcAft>
            </a:pPr>
            <a:r>
              <a:rPr lang="en-US" sz="14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keyboard navigation with visible focus indicators</a:t>
            </a:r>
            <a:endParaRPr lang="en-US" sz="1400" dirty="0"/>
          </a:p>
          <a:p>
            <a:pPr>
              <a:lnSpc>
                <a:spcPct val="120000"/>
              </a:lnSpc>
              <a:spcAft>
                <a:spcPts val="500"/>
              </a:spcAft>
            </a:pPr>
            <a:r>
              <a:rPr lang="en-US" sz="14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Keyboard shortcuts: 1-9 for tabs, Cmd+K command palette</a:t>
            </a:r>
            <a:endParaRPr lang="en-US" sz="1400" dirty="0"/>
          </a:p>
          <a:p>
            <a:pPr>
              <a:lnSpc>
                <a:spcPct val="120000"/>
              </a:lnSpc>
              <a:spcAft>
                <a:spcPts val="500"/>
              </a:spcAft>
            </a:pPr>
            <a:r>
              <a:rPr lang="en-US" sz="14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Command palette with fuzzy search across records, users, and actions</a:t>
            </a:r>
            <a:endParaRPr lang="en-US" sz="1400" dirty="0"/>
          </a:p>
          <a:p>
            <a:pPr>
              <a:lnSpc>
                <a:spcPct val="120000"/>
              </a:lnSpc>
              <a:spcAft>
                <a:spcPts val="500"/>
              </a:spcAft>
            </a:pPr>
            <a:r>
              <a:rPr lang="en-US" sz="14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Dark and light theme with system preference auto-detection</a:t>
            </a:r>
            <a:endParaRPr lang="en-US" sz="1400" dirty="0"/>
          </a:p>
          <a:p>
            <a:pPr>
              <a:lnSpc>
                <a:spcPct val="120000"/>
              </a:lnSpc>
              <a:spcAft>
                <a:spcPts val="500"/>
              </a:spcAft>
            </a:pPr>
            <a:r>
              <a:rPr lang="en-US" sz="14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Reduced motion support for users who prefer less animation</a:t>
            </a:r>
            <a:endParaRPr lang="en-US" sz="1400" dirty="0"/>
          </a:p>
          <a:p>
            <a:pPr>
              <a:lnSpc>
                <a:spcPct val="120000"/>
              </a:lnSpc>
              <a:spcAft>
                <a:spcPts val="500"/>
              </a:spcAft>
            </a:pPr>
            <a:r>
              <a:rPr lang="en-US" sz="14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contrast mode for improved visibility</a:t>
            </a:r>
            <a:endParaRPr lang="en-US" sz="1400" dirty="0"/>
          </a:p>
          <a:p>
            <a:pPr>
              <a:lnSpc>
                <a:spcPct val="120000"/>
              </a:lnSpc>
              <a:spcAft>
                <a:spcPts val="500"/>
              </a:spcAft>
            </a:pPr>
            <a:r>
              <a:rPr lang="en-US" sz="14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 reader announcements and ARIA labels throughout</a:t>
            </a:r>
            <a:endParaRPr lang="en-US" sz="1400" dirty="0"/>
          </a:p>
          <a:p>
            <a:pPr>
              <a:lnSpc>
                <a:spcPct val="120000"/>
              </a:lnSpc>
              <a:spcAft>
                <a:spcPts val="500"/>
              </a:spcAft>
            </a:pPr>
            <a:r>
              <a:rPr lang="en-US" sz="14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Skip-to-content links and logical heading hierarchy</a:t>
            </a:r>
            <a:endParaRPr lang="en-US" sz="1400" dirty="0"/>
          </a:p>
          <a:p>
            <a:pPr>
              <a:lnSpc>
                <a:spcPct val="120000"/>
              </a:lnSpc>
              <a:spcAft>
                <a:spcPts val="500"/>
              </a:spcAft>
            </a:pPr>
            <a:r>
              <a:rPr lang="en-US" sz="14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Font size adjustment in settings</a:t>
            </a:r>
            <a:endParaRPr lang="en-US" sz="14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PWA &amp; Mobile Experience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1143000"/>
            <a:ext cx="2286000" cy="36576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463040"/>
            <a:ext cx="105156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20000"/>
              </a:lnSpc>
              <a:spcAft>
                <a:spcPts val="500"/>
              </a:spcAft>
            </a:pPr>
            <a:r>
              <a:rPr lang="en-US" sz="14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Progressive Web App — installable on iOS and Android</a:t>
            </a:r>
            <a:endParaRPr lang="en-US" sz="1400" dirty="0"/>
          </a:p>
          <a:p>
            <a:pPr>
              <a:lnSpc>
                <a:spcPct val="120000"/>
              </a:lnSpc>
              <a:spcAft>
                <a:spcPts val="500"/>
              </a:spcAft>
            </a:pPr>
            <a:r>
              <a:rPr lang="en-US" sz="14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Responsive design from mobile to ultrawide desktop</a:t>
            </a:r>
            <a:endParaRPr lang="en-US" sz="1400" dirty="0"/>
          </a:p>
          <a:p>
            <a:pPr>
              <a:lnSpc>
                <a:spcPct val="120000"/>
              </a:lnSpc>
              <a:spcAft>
                <a:spcPts val="500"/>
              </a:spcAft>
            </a:pPr>
            <a:r>
              <a:rPr lang="en-US" sz="14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Touch-optimized: swipe gestures for like, save, dismiss</a:t>
            </a:r>
            <a:endParaRPr lang="en-US" sz="1400" dirty="0"/>
          </a:p>
          <a:p>
            <a:pPr>
              <a:lnSpc>
                <a:spcPct val="120000"/>
              </a:lnSpc>
              <a:spcAft>
                <a:spcPts val="500"/>
              </a:spcAft>
            </a:pPr>
            <a:r>
              <a:rPr lang="en-US" sz="14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Offline-capable with service worker caching</a:t>
            </a:r>
            <a:endParaRPr lang="en-US" sz="1400" dirty="0"/>
          </a:p>
          <a:p>
            <a:pPr>
              <a:lnSpc>
                <a:spcPct val="120000"/>
              </a:lnSpc>
              <a:spcAft>
                <a:spcPts val="500"/>
              </a:spcAft>
            </a:pPr>
            <a:r>
              <a:rPr lang="en-US" sz="14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Push notification support via service workers</a:t>
            </a:r>
            <a:endParaRPr lang="en-US" sz="1400" dirty="0"/>
          </a:p>
          <a:p>
            <a:pPr>
              <a:lnSpc>
                <a:spcPct val="120000"/>
              </a:lnSpc>
              <a:spcAft>
                <a:spcPts val="500"/>
              </a:spcAft>
            </a:pPr>
            <a:r>
              <a:rPr lang="en-US" sz="14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App-like navigation with bottom tab bar on mobile</a:t>
            </a:r>
            <a:endParaRPr lang="en-US" sz="1400" dirty="0"/>
          </a:p>
          <a:p>
            <a:pPr>
              <a:lnSpc>
                <a:spcPct val="120000"/>
              </a:lnSpc>
              <a:spcAft>
                <a:spcPts val="500"/>
              </a:spcAft>
            </a:pPr>
            <a:r>
              <a:rPr lang="en-US" sz="14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 load times with code splitting and lazy loading</a:t>
            </a:r>
            <a:endParaRPr lang="en-US" sz="1400" dirty="0"/>
          </a:p>
          <a:p>
            <a:pPr>
              <a:lnSpc>
                <a:spcPct val="120000"/>
              </a:lnSpc>
              <a:spcAft>
                <a:spcPts val="500"/>
              </a:spcAft>
            </a:pPr>
            <a:r>
              <a:rPr lang="en-US" sz="14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Drawer modals with swipe-to-dismiss on mobile</a:t>
            </a:r>
            <a:endParaRPr lang="en-US" sz="1400" dirty="0"/>
          </a:p>
          <a:p>
            <a:pPr>
              <a:lnSpc>
                <a:spcPct val="120000"/>
              </a:lnSpc>
              <a:spcAft>
                <a:spcPts val="500"/>
              </a:spcAft>
            </a:pPr>
            <a:r>
              <a:rPr lang="en-US" sz="14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Card flip animations for engaging record browsing</a:t>
            </a:r>
            <a:endParaRPr lang="en-US" sz="14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Overview — 275+ Endpoints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1143000"/>
            <a:ext cx="2286000" cy="36576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554480"/>
            <a:ext cx="3291840" cy="1828800"/>
          </a:xfrm>
          <a:prstGeom prst="rect">
            <a:avLst>
              <a:gd name="adj" fmla="val 5000"/>
            </a:avLst>
          </a:prstGeom>
          <a:solidFill>
            <a:srgbClr val="18181B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73736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40+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731520" y="265176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Marketplace &amp; Checkout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389120" y="1554480"/>
            <a:ext cx="3291840" cy="1828800"/>
          </a:xfrm>
          <a:prstGeom prst="rect">
            <a:avLst>
              <a:gd name="adj" fmla="val 5000"/>
            </a:avLst>
          </a:prstGeom>
          <a:solidFill>
            <a:srgbClr val="18181B"/>
          </a:solidFill>
          <a:ln/>
        </p:spPr>
      </p:sp>
      <p:sp>
        <p:nvSpPr>
          <p:cNvPr id="9" name="Text 7"/>
          <p:cNvSpPr/>
          <p:nvPr/>
        </p:nvSpPr>
        <p:spPr>
          <a:xfrm>
            <a:off x="4389120" y="173736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30+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4389120" y="265176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&amp; Feed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046720" y="1554480"/>
            <a:ext cx="3291840" cy="1828800"/>
          </a:xfrm>
          <a:prstGeom prst="rect">
            <a:avLst>
              <a:gd name="adj" fmla="val 5000"/>
            </a:avLst>
          </a:prstGeom>
          <a:solidFill>
            <a:srgbClr val="18181B"/>
          </a:solidFill>
          <a:ln/>
        </p:spPr>
      </p:sp>
      <p:sp>
        <p:nvSpPr>
          <p:cNvPr id="12" name="Text 10"/>
          <p:cNvSpPr/>
          <p:nvPr/>
        </p:nvSpPr>
        <p:spPr>
          <a:xfrm>
            <a:off x="8046720" y="173736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25+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8046720" y="265176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Collection &amp; Records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31520" y="3840480"/>
            <a:ext cx="3291840" cy="1828800"/>
          </a:xfrm>
          <a:prstGeom prst="rect">
            <a:avLst>
              <a:gd name="adj" fmla="val 5000"/>
            </a:avLst>
          </a:prstGeom>
          <a:solidFill>
            <a:srgbClr val="18181B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402336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35+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731520" y="493776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Vinyl Buddy / Hardware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389120" y="3840480"/>
            <a:ext cx="3291840" cy="1828800"/>
          </a:xfrm>
          <a:prstGeom prst="rect">
            <a:avLst>
              <a:gd name="adj" fmla="val 5000"/>
            </a:avLst>
          </a:prstGeom>
          <a:solidFill>
            <a:srgbClr val="18181B"/>
          </a:solidFill>
          <a:ln/>
        </p:spPr>
      </p:sp>
      <p:sp>
        <p:nvSpPr>
          <p:cNvPr id="18" name="Text 16"/>
          <p:cNvSpPr/>
          <p:nvPr/>
        </p:nvSpPr>
        <p:spPr>
          <a:xfrm>
            <a:off x="4389120" y="402336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25+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4389120" y="493776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 &amp; User Management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8046720" y="3840480"/>
            <a:ext cx="3291840" cy="1828800"/>
          </a:xfrm>
          <a:prstGeom prst="rect">
            <a:avLst>
              <a:gd name="adj" fmla="val 5000"/>
            </a:avLst>
          </a:prstGeom>
          <a:solidFill>
            <a:srgbClr val="18181B"/>
          </a:solidFill>
          <a:ln/>
        </p:spPr>
      </p:sp>
      <p:sp>
        <p:nvSpPr>
          <p:cNvPr id="21" name="Text 19"/>
          <p:cNvSpPr/>
          <p:nvPr/>
        </p:nvSpPr>
        <p:spPr>
          <a:xfrm>
            <a:off x="8046720" y="402336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120+</a:t>
            </a:r>
            <a:endParaRPr lang="en-US" sz="3600" dirty="0"/>
          </a:p>
        </p:txBody>
      </p:sp>
      <p:sp>
        <p:nvSpPr>
          <p:cNvPr id="22" name="Text 20"/>
          <p:cNvSpPr/>
          <p:nvPr/>
        </p:nvSpPr>
        <p:spPr>
          <a:xfrm>
            <a:off x="8046720" y="493776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Analytics, Admin, Utility &amp; Misc</a:t>
            </a:r>
            <a:endParaRPr lang="en-US" sz="16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Technology Stack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1143000"/>
            <a:ext cx="2286000" cy="36576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554480"/>
            <a:ext cx="4937760" cy="1051560"/>
          </a:xfrm>
          <a:prstGeom prst="rect">
            <a:avLst>
              <a:gd name="adj" fmla="val 8696"/>
            </a:avLst>
          </a:prstGeom>
          <a:solidFill>
            <a:srgbClr val="18181B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1645920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057400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19 + Tailwind CSS 3.4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217920" y="1554480"/>
            <a:ext cx="4937760" cy="1051560"/>
          </a:xfrm>
          <a:prstGeom prst="rect">
            <a:avLst>
              <a:gd name="adj" fmla="val 8696"/>
            </a:avLst>
          </a:prstGeom>
          <a:solidFill>
            <a:srgbClr val="18181B"/>
          </a:solidFill>
          <a:ln/>
        </p:spPr>
      </p:sp>
      <p:sp>
        <p:nvSpPr>
          <p:cNvPr id="9" name="Text 7"/>
          <p:cNvSpPr/>
          <p:nvPr/>
        </p:nvSpPr>
        <p:spPr>
          <a:xfrm>
            <a:off x="6492240" y="1645920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92240" y="2057400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Express.js 5 + Node.js 18+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731520" y="2834640"/>
            <a:ext cx="4937760" cy="1051560"/>
          </a:xfrm>
          <a:prstGeom prst="rect">
            <a:avLst>
              <a:gd name="adj" fmla="val 8696"/>
            </a:avLst>
          </a:prstGeom>
          <a:solidFill>
            <a:srgbClr val="18181B"/>
          </a:solidFill>
          <a:ln/>
        </p:spPr>
      </p:sp>
      <p:sp>
        <p:nvSpPr>
          <p:cNvPr id="12" name="Text 10"/>
          <p:cNvSpPr/>
          <p:nvPr/>
        </p:nvSpPr>
        <p:spPr>
          <a:xfrm>
            <a:off x="1005840" y="2926080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05840" y="3337560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 (35+ tables, Railway)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6217920" y="2834640"/>
            <a:ext cx="4937760" cy="1051560"/>
          </a:xfrm>
          <a:prstGeom prst="rect">
            <a:avLst>
              <a:gd name="adj" fmla="val 8696"/>
            </a:avLst>
          </a:prstGeom>
          <a:solidFill>
            <a:srgbClr val="18181B"/>
          </a:solidFill>
          <a:ln/>
        </p:spPr>
      </p:sp>
      <p:sp>
        <p:nvSpPr>
          <p:cNvPr id="15" name="Text 13"/>
          <p:cNvSpPr/>
          <p:nvPr/>
        </p:nvSpPr>
        <p:spPr>
          <a:xfrm>
            <a:off x="6492240" y="2926080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92240" y="3337560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JWT + bcrypt + TOTP 2FA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731520" y="4114800"/>
            <a:ext cx="4937760" cy="1051560"/>
          </a:xfrm>
          <a:prstGeom prst="rect">
            <a:avLst>
              <a:gd name="adj" fmla="val 8696"/>
            </a:avLst>
          </a:prstGeom>
          <a:solidFill>
            <a:srgbClr val="18181B"/>
          </a:solidFill>
          <a:ln/>
        </p:spPr>
      </p:sp>
      <p:sp>
        <p:nvSpPr>
          <p:cNvPr id="18" name="Text 16"/>
          <p:cNvSpPr/>
          <p:nvPr/>
        </p:nvSpPr>
        <p:spPr>
          <a:xfrm>
            <a:off x="1005840" y="4206240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Payments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05840" y="4617720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Stripe Checkout + Connect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6217920" y="4114800"/>
            <a:ext cx="4937760" cy="1051560"/>
          </a:xfrm>
          <a:prstGeom prst="rect">
            <a:avLst>
              <a:gd name="adj" fmla="val 8696"/>
            </a:avLst>
          </a:prstGeom>
          <a:solidFill>
            <a:srgbClr val="18181B"/>
          </a:solidFill>
          <a:ln/>
        </p:spPr>
      </p:sp>
      <p:sp>
        <p:nvSpPr>
          <p:cNvPr id="21" name="Text 19"/>
          <p:cNvSpPr/>
          <p:nvPr/>
        </p:nvSpPr>
        <p:spPr>
          <a:xfrm>
            <a:off x="6492240" y="4206240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492240" y="4617720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API + Discogs + AudD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731520" y="5394960"/>
            <a:ext cx="4937760" cy="1051560"/>
          </a:xfrm>
          <a:prstGeom prst="rect">
            <a:avLst>
              <a:gd name="adj" fmla="val 8696"/>
            </a:avLst>
          </a:prstGeom>
          <a:solidFill>
            <a:srgbClr val="18181B"/>
          </a:solidFill>
          <a:ln/>
        </p:spPr>
      </p:sp>
      <p:sp>
        <p:nvSpPr>
          <p:cNvPr id="24" name="Text 22"/>
          <p:cNvSpPr/>
          <p:nvPr/>
        </p:nvSpPr>
        <p:spPr>
          <a:xfrm>
            <a:off x="1005840" y="5486400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005840" y="5897880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Vercel + Railway CI/CD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6217920" y="5394960"/>
            <a:ext cx="4937760" cy="1051560"/>
          </a:xfrm>
          <a:prstGeom prst="rect">
            <a:avLst>
              <a:gd name="adj" fmla="val 8696"/>
            </a:avLst>
          </a:prstGeom>
          <a:solidFill>
            <a:srgbClr val="18181B"/>
          </a:solidFill>
          <a:ln/>
        </p:spPr>
      </p:sp>
      <p:sp>
        <p:nvSpPr>
          <p:cNvPr id="27" name="Text 25"/>
          <p:cNvSpPr/>
          <p:nvPr/>
        </p:nvSpPr>
        <p:spPr>
          <a:xfrm>
            <a:off x="6492240" y="5486400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Hardware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492240" y="5897880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ESP32 + BLE + OLED + SD + Gesture</a:t>
            </a:r>
            <a:endParaRPr lang="en-US" sz="18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Deployment &amp; Infrastructure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1143000"/>
            <a:ext cx="2286000" cy="36576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463040"/>
            <a:ext cx="5120640" cy="4846320"/>
          </a:xfrm>
          <a:prstGeom prst="rect">
            <a:avLst>
              <a:gd name="adj" fmla="val 1887"/>
            </a:avLst>
          </a:prstGeom>
          <a:solidFill>
            <a:srgbClr val="18181B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16002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Hosting &amp; CI/CD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5840" y="2148840"/>
            <a:ext cx="457200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15000"/>
              </a:lnSpc>
              <a:spcAft>
                <a:spcPts val="400"/>
              </a:spcAft>
            </a:pPr>
            <a:r>
              <a:rPr lang="en-US" sz="15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Vercel for frontend with global CDN</a:t>
            </a:r>
            <a:endParaRPr lang="en-US" sz="1500" dirty="0"/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lang="en-US" sz="15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Railway for backend + PostgreSQL</a:t>
            </a:r>
            <a:endParaRPr lang="en-US" sz="1500" dirty="0"/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lang="en-US" sz="15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auto-deploy on push to main</a:t>
            </a:r>
            <a:endParaRPr lang="en-US" sz="1500" dirty="0"/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lang="en-US" sz="15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Environment-based config (dev/staging/prod)</a:t>
            </a:r>
            <a:endParaRPr lang="en-US" sz="1500" dirty="0"/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lang="en-US" sz="15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Gzip compression and response optimization</a:t>
            </a:r>
            <a:endParaRPr lang="en-US" sz="1500" dirty="0"/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lang="en-US" sz="15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Graceful shutdown handling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309360" y="1463040"/>
            <a:ext cx="5120640" cy="4846320"/>
          </a:xfrm>
          <a:prstGeom prst="rect">
            <a:avLst>
              <a:gd name="adj" fmla="val 1887"/>
            </a:avLst>
          </a:prstGeom>
          <a:solidFill>
            <a:srgbClr val="18181B"/>
          </a:solidFill>
          <a:ln/>
        </p:spPr>
      </p:sp>
      <p:sp>
        <p:nvSpPr>
          <p:cNvPr id="9" name="Text 7"/>
          <p:cNvSpPr/>
          <p:nvPr/>
        </p:nvSpPr>
        <p:spPr>
          <a:xfrm>
            <a:off x="6583680" y="16002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Monitoring &amp; Ops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583680" y="2148840"/>
            <a:ext cx="457200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15000"/>
              </a:lnSpc>
              <a:spcAft>
                <a:spcPts val="400"/>
              </a:spcAft>
            </a:pPr>
            <a:r>
              <a:rPr lang="en-US" sz="15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 check endpoint with uptime stats</a:t>
            </a:r>
            <a:endParaRPr lang="en-US" sz="1500" dirty="0"/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lang="en-US" sz="15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 migration versioning (8+ versions)</a:t>
            </a:r>
            <a:endParaRPr lang="en-US" sz="1500" dirty="0"/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lang="en-US" sz="15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Scheduled backup system (configurable)</a:t>
            </a:r>
            <a:endParaRPr lang="en-US" sz="1500" dirty="0"/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lang="en-US" sz="15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Server start time and request tracing</a:t>
            </a:r>
            <a:endParaRPr lang="en-US" sz="1500" dirty="0"/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lang="en-US" sz="15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OpenAPI spec and API documentation endpoint</a:t>
            </a:r>
            <a:endParaRPr lang="en-US" sz="1500" dirty="0"/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lang="en-US" sz="15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Changelog endpoint for version tracking</a:t>
            </a:r>
            <a:endParaRPr lang="en-US" sz="15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Development Journey — Waves 1–10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1143000"/>
            <a:ext cx="2286000" cy="36576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463040"/>
            <a:ext cx="105156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20000"/>
              </a:lnSpc>
              <a:spcAft>
                <a:spcPts val="500"/>
              </a:spcAft>
            </a:pPr>
            <a:r>
              <a:rPr lang="en-US" sz="14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Wave 1: Collection management, CRUD, JWT auth, search, profiles</a:t>
            </a:r>
            <a:endParaRPr lang="en-US" sz="1400" dirty="0"/>
          </a:p>
          <a:p>
            <a:pPr>
              <a:lnSpc>
                <a:spcPct val="120000"/>
              </a:lnSpc>
              <a:spcAft>
                <a:spcPts val="500"/>
              </a:spcAft>
            </a:pPr>
            <a:r>
              <a:rPr lang="en-US" sz="14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Wave 2: Marketplace, offers, Discogs pricing, analytics, dark mode</a:t>
            </a:r>
            <a:endParaRPr lang="en-US" sz="1400" dirty="0"/>
          </a:p>
          <a:p>
            <a:pPr>
              <a:lnSpc>
                <a:spcPct val="120000"/>
              </a:lnSpc>
              <a:spcAft>
                <a:spcPts val="500"/>
              </a:spcAft>
            </a:pPr>
            <a:r>
              <a:rPr lang="en-US" sz="14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Wave 3: Messaging, wishlist, notifications, Stripe Checkout</a:t>
            </a:r>
            <a:endParaRPr lang="en-US" sz="1400" dirty="0"/>
          </a:p>
          <a:p>
            <a:pPr>
              <a:lnSpc>
                <a:spcPct val="120000"/>
              </a:lnSpc>
              <a:spcAft>
                <a:spcPts val="500"/>
              </a:spcAft>
            </a:pPr>
            <a:r>
              <a:rPr lang="en-US" sz="14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Wave 4: Vinyl Buddy ESP32, audio fingerprinting, achievements</a:t>
            </a:r>
            <a:endParaRPr lang="en-US" sz="1400" dirty="0"/>
          </a:p>
          <a:p>
            <a:pPr>
              <a:lnSpc>
                <a:spcPct val="120000"/>
              </a:lnSpc>
              <a:spcAft>
                <a:spcPts val="500"/>
              </a:spcAft>
            </a:pPr>
            <a:r>
              <a:rPr lang="en-US" sz="14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Wave 5: Social feed, posts, comments, follows, trending</a:t>
            </a:r>
            <a:endParaRPr lang="en-US" sz="1400" dirty="0"/>
          </a:p>
          <a:p>
            <a:pPr>
              <a:lnSpc>
                <a:spcPct val="120000"/>
              </a:lnSpc>
              <a:spcAft>
                <a:spcPts val="500"/>
              </a:spcAft>
            </a:pPr>
            <a:r>
              <a:rPr lang="en-US" sz="14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Wave 6: AI condition grading, onboarding, marketplace stats</a:t>
            </a:r>
            <a:endParaRPr lang="en-US" sz="1400" dirty="0"/>
          </a:p>
          <a:p>
            <a:pPr>
              <a:lnSpc>
                <a:spcPct val="120000"/>
              </a:lnSpc>
              <a:spcAft>
                <a:spcPts val="500"/>
              </a:spcAft>
            </a:pPr>
            <a:r>
              <a:rPr lang="en-US" sz="14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Wave 7: Country origins, decade themes, community badges, labels</a:t>
            </a:r>
            <a:endParaRPr lang="en-US" sz="1400" dirty="0"/>
          </a:p>
          <a:p>
            <a:pPr>
              <a:lnSpc>
                <a:spcPct val="120000"/>
              </a:lnSpc>
              <a:spcAft>
                <a:spcPts val="500"/>
              </a:spcAft>
            </a:pPr>
            <a:r>
              <a:rPr lang="en-US" sz="14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Wave 8: Escrow, disputes, provenance, scheduled messages</a:t>
            </a:r>
            <a:endParaRPr lang="en-US" sz="1400" dirty="0"/>
          </a:p>
          <a:p>
            <a:pPr>
              <a:lnSpc>
                <a:spcPct val="120000"/>
              </a:lnSpc>
              <a:spcAft>
                <a:spcPts val="500"/>
              </a:spcAft>
            </a:pPr>
            <a:r>
              <a:rPr lang="en-US" sz="14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Wave 9: Vinyl care guides, Goldmine grading guide, 200+ records</a:t>
            </a:r>
            <a:endParaRPr lang="en-US" sz="1400" dirty="0"/>
          </a:p>
          <a:p>
            <a:pPr>
              <a:lnSpc>
                <a:spcPct val="120000"/>
              </a:lnSpc>
              <a:spcAft>
                <a:spcPts val="500"/>
              </a:spcAft>
            </a:pPr>
            <a:r>
              <a:rPr lang="en-US" sz="14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Wave 10: Stories, profile enhancements, RSS feed, batch API</a:t>
            </a:r>
            <a:endParaRPr lang="en-US" sz="14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Development Journey — Waves 11–20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1143000"/>
            <a:ext cx="2286000" cy="36576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463040"/>
            <a:ext cx="105156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20000"/>
              </a:lnSpc>
              <a:spcAft>
                <a:spcPts val="500"/>
              </a:spcAft>
            </a:pPr>
            <a:r>
              <a:rPr lang="en-US" sz="14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Wave 11: Auction system, loyalty points, seller tiers</a:t>
            </a:r>
            <a:endParaRPr lang="en-US" sz="1400" dirty="0"/>
          </a:p>
          <a:p>
            <a:pPr>
              <a:lnSpc>
                <a:spcPct val="120000"/>
              </a:lnSpc>
              <a:spcAft>
                <a:spcPts val="500"/>
              </a:spcAft>
            </a:pPr>
            <a:r>
              <a:rPr lang="en-US" sz="14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Wave 12: Virtual scrolling, performance optimizations</a:t>
            </a:r>
            <a:endParaRPr lang="en-US" sz="1400" dirty="0"/>
          </a:p>
          <a:p>
            <a:pPr>
              <a:lnSpc>
                <a:spcPct val="120000"/>
              </a:lnSpc>
              <a:spcAft>
                <a:spcPts val="500"/>
              </a:spcAft>
            </a:pPr>
            <a:r>
              <a:rPr lang="en-US" sz="14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Wave 13: Card flip animations, drawer modals, swipe gestures</a:t>
            </a:r>
            <a:endParaRPr lang="en-US" sz="1400" dirty="0"/>
          </a:p>
          <a:p>
            <a:pPr>
              <a:lnSpc>
                <a:spcPct val="120000"/>
              </a:lnSpc>
              <a:spcAft>
                <a:spcPts val="500"/>
              </a:spcAft>
            </a:pPr>
            <a:r>
              <a:rPr lang="en-US" sz="14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Wave 14: BLE device pairing, OLED display improvements</a:t>
            </a:r>
            <a:endParaRPr lang="en-US" sz="1400" dirty="0"/>
          </a:p>
          <a:p>
            <a:pPr>
              <a:lnSpc>
                <a:spcPct val="120000"/>
              </a:lnSpc>
              <a:spcAft>
                <a:spcPts val="500"/>
              </a:spcAft>
            </a:pPr>
            <a:r>
              <a:rPr lang="en-US" sz="14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Wave 15: SD card offline caching, gesture sensor integration</a:t>
            </a:r>
            <a:endParaRPr lang="en-US" sz="1400" dirty="0"/>
          </a:p>
          <a:p>
            <a:pPr>
              <a:lnSpc>
                <a:spcPct val="120000"/>
              </a:lnSpc>
              <a:spcAft>
                <a:spcPts val="500"/>
              </a:spcAft>
            </a:pPr>
            <a:r>
              <a:rPr lang="en-US" sz="14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Wave 16: ESP-NOW mesh networking, multi-room sync</a:t>
            </a:r>
            <a:endParaRPr lang="en-US" sz="1400" dirty="0"/>
          </a:p>
          <a:p>
            <a:pPr>
              <a:lnSpc>
                <a:spcPct val="120000"/>
              </a:lnSpc>
              <a:spcAft>
                <a:spcPts val="500"/>
              </a:spcAft>
            </a:pPr>
            <a:r>
              <a:rPr lang="en-US" sz="14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Wave 17: Active noise cancellation, auto-gain control</a:t>
            </a:r>
            <a:endParaRPr lang="en-US" sz="1400" dirty="0"/>
          </a:p>
          <a:p>
            <a:pPr>
              <a:lnSpc>
                <a:spcPct val="120000"/>
              </a:lnSpc>
              <a:spcAft>
                <a:spcPts val="500"/>
              </a:spcAft>
            </a:pPr>
            <a:r>
              <a:rPr lang="en-US" sz="14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Wave 18: Featured listings, storefront customization</a:t>
            </a:r>
            <a:endParaRPr lang="en-US" sz="1400" dirty="0"/>
          </a:p>
          <a:p>
            <a:pPr>
              <a:lnSpc>
                <a:spcPct val="120000"/>
              </a:lnSpc>
              <a:spcAft>
                <a:spcPts val="500"/>
              </a:spcAft>
            </a:pPr>
            <a:r>
              <a:rPr lang="en-US" sz="14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Wave 19: Advanced analytics, taste evolution, mood detection</a:t>
            </a:r>
            <a:endParaRPr lang="en-US" sz="1400" dirty="0"/>
          </a:p>
          <a:p>
            <a:pPr>
              <a:lnSpc>
                <a:spcPct val="120000"/>
              </a:lnSpc>
              <a:spcAft>
                <a:spcPts val="500"/>
              </a:spcAft>
            </a:pPr>
            <a:r>
              <a:rPr lang="en-US" sz="14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Wave 20: Final polish, 275+ endpoints, comprehensive documentation</a:t>
            </a:r>
            <a:endParaRPr lang="en-US" sz="14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 — Future Plans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1143000"/>
            <a:ext cx="2286000" cy="36576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463040"/>
            <a:ext cx="105156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20000"/>
              </a:lnSpc>
              <a:spcAft>
                <a:spcPts val="500"/>
              </a:spcAft>
            </a:pPr>
            <a:r>
              <a:rPr lang="en-US" sz="14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 app (React Native) for iOS and Android</a:t>
            </a:r>
            <a:endParaRPr lang="en-US" sz="1400" dirty="0"/>
          </a:p>
          <a:p>
            <a:pPr>
              <a:lnSpc>
                <a:spcPct val="120000"/>
              </a:lnSpc>
              <a:spcAft>
                <a:spcPts val="500"/>
              </a:spcAft>
            </a:pPr>
            <a:r>
              <a:rPr lang="en-US" sz="14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notifications and chat via WebSockets</a:t>
            </a:r>
            <a:endParaRPr lang="en-US" sz="1400" dirty="0"/>
          </a:p>
          <a:p>
            <a:pPr>
              <a:lnSpc>
                <a:spcPct val="120000"/>
              </a:lnSpc>
              <a:spcAft>
                <a:spcPts val="500"/>
              </a:spcAft>
            </a:pPr>
            <a:r>
              <a:rPr lang="en-US" sz="14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Vinyl Buddy v2: improved form factor and enclosure design</a:t>
            </a:r>
            <a:endParaRPr lang="en-US" sz="1400" dirty="0"/>
          </a:p>
          <a:p>
            <a:pPr>
              <a:lnSpc>
                <a:spcPct val="120000"/>
              </a:lnSpc>
              <a:spcAft>
                <a:spcPts val="500"/>
              </a:spcAft>
            </a:pPr>
            <a:r>
              <a:rPr lang="en-US" sz="14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listening sessions — listen along with friends in real time</a:t>
            </a:r>
            <a:endParaRPr lang="en-US" sz="1400" dirty="0"/>
          </a:p>
          <a:p>
            <a:pPr>
              <a:lnSpc>
                <a:spcPct val="120000"/>
              </a:lnSpc>
              <a:spcAft>
                <a:spcPts val="500"/>
              </a:spcAft>
            </a:pPr>
            <a:r>
              <a:rPr lang="en-US" sz="14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International shipping and multi-currency support</a:t>
            </a:r>
            <a:endParaRPr lang="en-US" sz="1400" dirty="0"/>
          </a:p>
          <a:p>
            <a:pPr>
              <a:lnSpc>
                <a:spcPct val="120000"/>
              </a:lnSpc>
              <a:spcAft>
                <a:spcPts val="500"/>
              </a:spcAft>
            </a:pPr>
            <a:r>
              <a:rPr lang="en-US" sz="14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Premium subscription tiers for power collectors</a:t>
            </a:r>
            <a:endParaRPr lang="en-US" sz="1400" dirty="0"/>
          </a:p>
          <a:p>
            <a:pPr>
              <a:lnSpc>
                <a:spcPct val="120000"/>
              </a:lnSpc>
              <a:spcAft>
                <a:spcPts val="500"/>
              </a:spcAft>
            </a:pPr>
            <a:r>
              <a:rPr lang="en-US" sz="14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Marketplace search ads and promoted listings</a:t>
            </a:r>
            <a:endParaRPr lang="en-US" sz="1400" dirty="0"/>
          </a:p>
          <a:p>
            <a:pPr>
              <a:lnSpc>
                <a:spcPct val="120000"/>
              </a:lnSpc>
              <a:spcAft>
                <a:spcPts val="500"/>
              </a:spcAft>
            </a:pPr>
            <a:r>
              <a:rPr lang="en-US" sz="14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Record label partnerships and exclusive drops</a:t>
            </a:r>
            <a:endParaRPr lang="en-US" sz="1400" dirty="0"/>
          </a:p>
          <a:p>
            <a:pPr>
              <a:lnSpc>
                <a:spcPct val="120000"/>
              </a:lnSpc>
              <a:spcAft>
                <a:spcPts val="500"/>
              </a:spcAft>
            </a:pPr>
            <a:r>
              <a:rPr lang="en-US" sz="14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Vinyl Buddy retail sales and distribution</a:t>
            </a:r>
            <a:endParaRPr lang="en-US" sz="14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97280"/>
            <a:ext cx="10515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GrooveStack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731520" y="21031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Vinyl Buddy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31520" y="30175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D4D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Vinyl Lives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3931920"/>
            <a:ext cx="10515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1,800+ improvements  •  275+ API endpoints  •  20 waves</a:t>
            </a:r>
            <a:pPr algn="ctr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pPr algn="ctr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groovestack.vercel.app</a:t>
            </a:r>
            <a:pPr algn="ctr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pPr algn="ctr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github.com/colelevy08/groovestack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530352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you!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0EA5E9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36</Slides>
  <Notes>36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3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</vt:vector>
  </TitlesOfParts>
  <Company>GrooveStack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Product Overview — Waves 1–20</dc:subject>
  <dc:creator>GrooveStack</dc:creator>
  <cp:lastModifiedBy>GrooveStack</cp:lastModifiedBy>
  <cp:revision>1</cp:revision>
  <dcterms:created xsi:type="dcterms:W3CDTF">2026-03-21T02:35:03Z</dcterms:created>
  <dcterms:modified xsi:type="dcterms:W3CDTF">2026-03-21T02:35:03Z</dcterms:modified>
</cp:coreProperties>
</file>